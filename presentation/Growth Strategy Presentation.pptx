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 Bold" charset="1" panose="00000000000000000000"/>
      <p:regular r:id="rId14"/>
    </p:embeddedFont>
    <p:embeddedFont>
      <p:font typeface="Montserrat Bold" charset="1" panose="00000800000000000000"/>
      <p:regular r:id="rId15"/>
    </p:embeddedFont>
    <p:embeddedFont>
      <p:font typeface="DM Sans" charset="1" panose="00000000000000000000"/>
      <p:regular r:id="rId16"/>
    </p:embeddedFont>
    <p:embeddedFont>
      <p:font typeface="Montserra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2" Target="../media/image1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14" Target="../media/image71.svg" Type="http://schemas.openxmlformats.org/officeDocument/2006/relationships/image"/><Relationship Id="rId15" Target="../media/image72.png" Type="http://schemas.openxmlformats.org/officeDocument/2006/relationships/image"/><Relationship Id="rId16" Target="../media/image73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2457" y="8103528"/>
            <a:ext cx="4535981" cy="1248281"/>
          </a:xfrm>
          <a:custGeom>
            <a:avLst/>
            <a:gdLst/>
            <a:ahLst/>
            <a:cxnLst/>
            <a:rect r="r" b="b" t="t" l="l"/>
            <a:pathLst>
              <a:path h="1248281" w="4535981">
                <a:moveTo>
                  <a:pt x="0" y="0"/>
                </a:moveTo>
                <a:lnTo>
                  <a:pt x="4535981" y="0"/>
                </a:lnTo>
                <a:lnTo>
                  <a:pt x="4535981" y="1248281"/>
                </a:lnTo>
                <a:lnTo>
                  <a:pt x="0" y="124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7579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7875535"/>
            <a:ext cx="4869614" cy="871312"/>
            <a:chOff x="0" y="0"/>
            <a:chExt cx="1282532" cy="2294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532" cy="229481"/>
            </a:xfrm>
            <a:custGeom>
              <a:avLst/>
              <a:gdLst/>
              <a:ahLst/>
              <a:cxnLst/>
              <a:rect r="r" b="b" t="t" l="l"/>
              <a:pathLst>
                <a:path h="229481" w="1282532">
                  <a:moveTo>
                    <a:pt x="114741" y="0"/>
                  </a:moveTo>
                  <a:lnTo>
                    <a:pt x="1167791" y="0"/>
                  </a:lnTo>
                  <a:cubicBezTo>
                    <a:pt x="1231161" y="0"/>
                    <a:pt x="1282532" y="51371"/>
                    <a:pt x="1282532" y="114741"/>
                  </a:cubicBezTo>
                  <a:lnTo>
                    <a:pt x="1282532" y="114741"/>
                  </a:lnTo>
                  <a:cubicBezTo>
                    <a:pt x="1282532" y="145172"/>
                    <a:pt x="1270443" y="174357"/>
                    <a:pt x="1248925" y="195875"/>
                  </a:cubicBezTo>
                  <a:cubicBezTo>
                    <a:pt x="1227407" y="217393"/>
                    <a:pt x="1198223" y="229481"/>
                    <a:pt x="1167791" y="229481"/>
                  </a:cubicBezTo>
                  <a:lnTo>
                    <a:pt x="114741" y="229481"/>
                  </a:lnTo>
                  <a:cubicBezTo>
                    <a:pt x="51371" y="229481"/>
                    <a:pt x="0" y="178110"/>
                    <a:pt x="0" y="114741"/>
                  </a:cubicBezTo>
                  <a:lnTo>
                    <a:pt x="0" y="114741"/>
                  </a:lnTo>
                  <a:cubicBezTo>
                    <a:pt x="0" y="51371"/>
                    <a:pt x="51371" y="0"/>
                    <a:pt x="1147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C68DF">
                    <a:alpha val="100000"/>
                  </a:srgbClr>
                </a:gs>
                <a:gs pos="100000">
                  <a:srgbClr val="68A0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82532" cy="27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145293" y="8975516"/>
            <a:ext cx="3144426" cy="3148361"/>
          </a:xfrm>
          <a:custGeom>
            <a:avLst/>
            <a:gdLst/>
            <a:ahLst/>
            <a:cxnLst/>
            <a:rect r="r" b="b" t="t" l="l"/>
            <a:pathLst>
              <a:path h="3148361" w="3144426">
                <a:moveTo>
                  <a:pt x="0" y="0"/>
                </a:moveTo>
                <a:lnTo>
                  <a:pt x="3144426" y="0"/>
                </a:lnTo>
                <a:lnTo>
                  <a:pt x="3144426" y="3148361"/>
                </a:lnTo>
                <a:lnTo>
                  <a:pt x="0" y="3148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27777" y="-4396203"/>
            <a:ext cx="12578008" cy="125780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C68DF">
                    <a:alpha val="100000"/>
                  </a:srgbClr>
                </a:gs>
                <a:gs pos="100000">
                  <a:srgbClr val="68A0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272067" y="1775491"/>
            <a:ext cx="4422370" cy="4422370"/>
          </a:xfrm>
          <a:custGeom>
            <a:avLst/>
            <a:gdLst/>
            <a:ahLst/>
            <a:cxnLst/>
            <a:rect r="r" b="b" t="t" l="l"/>
            <a:pathLst>
              <a:path h="4422370" w="4422370">
                <a:moveTo>
                  <a:pt x="0" y="0"/>
                </a:moveTo>
                <a:lnTo>
                  <a:pt x="4422370" y="0"/>
                </a:lnTo>
                <a:lnTo>
                  <a:pt x="4422370" y="4422370"/>
                </a:lnTo>
                <a:lnTo>
                  <a:pt x="0" y="4422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0131092" y="585945"/>
            <a:ext cx="3109396" cy="2938228"/>
            <a:chOff x="0" y="0"/>
            <a:chExt cx="1054099" cy="996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4099" cy="996072"/>
            </a:xfrm>
            <a:custGeom>
              <a:avLst/>
              <a:gdLst/>
              <a:ahLst/>
              <a:cxnLst/>
              <a:rect r="r" b="b" t="t" l="l"/>
              <a:pathLst>
                <a:path h="996072" w="1054099">
                  <a:moveTo>
                    <a:pt x="62246" y="0"/>
                  </a:moveTo>
                  <a:lnTo>
                    <a:pt x="991853" y="0"/>
                  </a:lnTo>
                  <a:cubicBezTo>
                    <a:pt x="1026230" y="0"/>
                    <a:pt x="1054099" y="27869"/>
                    <a:pt x="1054099" y="62246"/>
                  </a:cubicBezTo>
                  <a:lnTo>
                    <a:pt x="1054099" y="933826"/>
                  </a:lnTo>
                  <a:cubicBezTo>
                    <a:pt x="1054099" y="968204"/>
                    <a:pt x="1026230" y="996072"/>
                    <a:pt x="991853" y="996072"/>
                  </a:cubicBezTo>
                  <a:lnTo>
                    <a:pt x="62246" y="996072"/>
                  </a:lnTo>
                  <a:cubicBezTo>
                    <a:pt x="27869" y="996072"/>
                    <a:pt x="0" y="968204"/>
                    <a:pt x="0" y="933826"/>
                  </a:cubicBezTo>
                  <a:lnTo>
                    <a:pt x="0" y="62246"/>
                  </a:lnTo>
                  <a:cubicBezTo>
                    <a:pt x="0" y="27869"/>
                    <a:pt x="27869" y="0"/>
                    <a:pt x="62246" y="0"/>
                  </a:cubicBezTo>
                  <a:close/>
                </a:path>
              </a:pathLst>
            </a:custGeom>
            <a:solidFill>
              <a:srgbClr val="FAF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54099" cy="1034172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95000"/>
          </a:blip>
          <a:stretch>
            <a:fillRect/>
          </a:stretch>
        </p:blipFill>
        <p:spPr>
          <a:xfrm rot="0">
            <a:off x="10230846" y="1383989"/>
            <a:ext cx="2914130" cy="2079495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14035897" y="2113686"/>
            <a:ext cx="3109396" cy="2938228"/>
            <a:chOff x="0" y="0"/>
            <a:chExt cx="1054099" cy="996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4099" cy="996072"/>
            </a:xfrm>
            <a:custGeom>
              <a:avLst/>
              <a:gdLst/>
              <a:ahLst/>
              <a:cxnLst/>
              <a:rect r="r" b="b" t="t" l="l"/>
              <a:pathLst>
                <a:path h="996072" w="1054099">
                  <a:moveTo>
                    <a:pt x="62246" y="0"/>
                  </a:moveTo>
                  <a:lnTo>
                    <a:pt x="991853" y="0"/>
                  </a:lnTo>
                  <a:cubicBezTo>
                    <a:pt x="1026230" y="0"/>
                    <a:pt x="1054099" y="27869"/>
                    <a:pt x="1054099" y="62246"/>
                  </a:cubicBezTo>
                  <a:lnTo>
                    <a:pt x="1054099" y="933826"/>
                  </a:lnTo>
                  <a:cubicBezTo>
                    <a:pt x="1054099" y="968204"/>
                    <a:pt x="1026230" y="996072"/>
                    <a:pt x="991853" y="996072"/>
                  </a:cubicBezTo>
                  <a:lnTo>
                    <a:pt x="62246" y="996072"/>
                  </a:lnTo>
                  <a:cubicBezTo>
                    <a:pt x="27869" y="996072"/>
                    <a:pt x="0" y="968204"/>
                    <a:pt x="0" y="933826"/>
                  </a:cubicBezTo>
                  <a:lnTo>
                    <a:pt x="0" y="62246"/>
                  </a:lnTo>
                  <a:cubicBezTo>
                    <a:pt x="0" y="27869"/>
                    <a:pt x="27869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54099" cy="1034172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527166" y="2627361"/>
            <a:ext cx="2126860" cy="1240668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 rot="0">
            <a:off x="14704404" y="3841323"/>
            <a:ext cx="1580804" cy="121638"/>
            <a:chOff x="0" y="0"/>
            <a:chExt cx="296802" cy="228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6802" cy="22838"/>
            </a:xfrm>
            <a:custGeom>
              <a:avLst/>
              <a:gdLst/>
              <a:ahLst/>
              <a:cxnLst/>
              <a:rect r="r" b="b" t="t" l="l"/>
              <a:pathLst>
                <a:path h="22838" w="296802">
                  <a:moveTo>
                    <a:pt x="11419" y="0"/>
                  </a:moveTo>
                  <a:lnTo>
                    <a:pt x="285383" y="0"/>
                  </a:lnTo>
                  <a:cubicBezTo>
                    <a:pt x="291689" y="0"/>
                    <a:pt x="296802" y="5112"/>
                    <a:pt x="296802" y="11419"/>
                  </a:cubicBezTo>
                  <a:lnTo>
                    <a:pt x="296802" y="11419"/>
                  </a:lnTo>
                  <a:cubicBezTo>
                    <a:pt x="296802" y="17726"/>
                    <a:pt x="291689" y="22838"/>
                    <a:pt x="285383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96802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704404" y="4005709"/>
            <a:ext cx="1772383" cy="121638"/>
            <a:chOff x="0" y="0"/>
            <a:chExt cx="332772" cy="22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2772" cy="22838"/>
            </a:xfrm>
            <a:custGeom>
              <a:avLst/>
              <a:gdLst/>
              <a:ahLst/>
              <a:cxnLst/>
              <a:rect r="r" b="b" t="t" l="l"/>
              <a:pathLst>
                <a:path h="22838" w="332772">
                  <a:moveTo>
                    <a:pt x="11419" y="0"/>
                  </a:moveTo>
                  <a:lnTo>
                    <a:pt x="321353" y="0"/>
                  </a:lnTo>
                  <a:cubicBezTo>
                    <a:pt x="324381" y="0"/>
                    <a:pt x="327286" y="1203"/>
                    <a:pt x="329427" y="3345"/>
                  </a:cubicBezTo>
                  <a:cubicBezTo>
                    <a:pt x="331569" y="5486"/>
                    <a:pt x="332772" y="8391"/>
                    <a:pt x="332772" y="11419"/>
                  </a:cubicBezTo>
                  <a:lnTo>
                    <a:pt x="332772" y="11419"/>
                  </a:lnTo>
                  <a:cubicBezTo>
                    <a:pt x="332772" y="17726"/>
                    <a:pt x="327659" y="22838"/>
                    <a:pt x="321353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32772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04404" y="4167041"/>
            <a:ext cx="1364234" cy="121638"/>
            <a:chOff x="0" y="0"/>
            <a:chExt cx="256140" cy="228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140" cy="22838"/>
            </a:xfrm>
            <a:custGeom>
              <a:avLst/>
              <a:gdLst/>
              <a:ahLst/>
              <a:cxnLst/>
              <a:rect r="r" b="b" t="t" l="l"/>
              <a:pathLst>
                <a:path h="22838" w="256140">
                  <a:moveTo>
                    <a:pt x="11419" y="0"/>
                  </a:moveTo>
                  <a:lnTo>
                    <a:pt x="244721" y="0"/>
                  </a:lnTo>
                  <a:cubicBezTo>
                    <a:pt x="251028" y="0"/>
                    <a:pt x="256140" y="5112"/>
                    <a:pt x="256140" y="11419"/>
                  </a:cubicBezTo>
                  <a:lnTo>
                    <a:pt x="256140" y="11419"/>
                  </a:lnTo>
                  <a:cubicBezTo>
                    <a:pt x="256140" y="17726"/>
                    <a:pt x="251028" y="22838"/>
                    <a:pt x="244721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>
                <a:alpha val="9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56140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704404" y="4380822"/>
            <a:ext cx="1772383" cy="367487"/>
            <a:chOff x="0" y="0"/>
            <a:chExt cx="332772" cy="689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2772" cy="68997"/>
            </a:xfrm>
            <a:custGeom>
              <a:avLst/>
              <a:gdLst/>
              <a:ahLst/>
              <a:cxnLst/>
              <a:rect r="r" b="b" t="t" l="l"/>
              <a:pathLst>
                <a:path h="68997" w="332772">
                  <a:moveTo>
                    <a:pt x="34499" y="0"/>
                  </a:moveTo>
                  <a:lnTo>
                    <a:pt x="298273" y="0"/>
                  </a:lnTo>
                  <a:cubicBezTo>
                    <a:pt x="307423" y="0"/>
                    <a:pt x="316197" y="3635"/>
                    <a:pt x="322667" y="10104"/>
                  </a:cubicBezTo>
                  <a:cubicBezTo>
                    <a:pt x="329137" y="16574"/>
                    <a:pt x="332772" y="25349"/>
                    <a:pt x="332772" y="34499"/>
                  </a:cubicBezTo>
                  <a:lnTo>
                    <a:pt x="332772" y="34499"/>
                  </a:lnTo>
                  <a:cubicBezTo>
                    <a:pt x="332772" y="43648"/>
                    <a:pt x="329137" y="52423"/>
                    <a:pt x="322667" y="58893"/>
                  </a:cubicBezTo>
                  <a:cubicBezTo>
                    <a:pt x="316197" y="65362"/>
                    <a:pt x="307423" y="68997"/>
                    <a:pt x="298273" y="68997"/>
                  </a:cubicBezTo>
                  <a:lnTo>
                    <a:pt x="34499" y="68997"/>
                  </a:lnTo>
                  <a:cubicBezTo>
                    <a:pt x="25349" y="68997"/>
                    <a:pt x="16574" y="65362"/>
                    <a:pt x="10104" y="58893"/>
                  </a:cubicBezTo>
                  <a:cubicBezTo>
                    <a:pt x="3635" y="52423"/>
                    <a:pt x="0" y="43648"/>
                    <a:pt x="0" y="34499"/>
                  </a:cubicBezTo>
                  <a:lnTo>
                    <a:pt x="0" y="34499"/>
                  </a:lnTo>
                  <a:cubicBezTo>
                    <a:pt x="0" y="25349"/>
                    <a:pt x="3635" y="16574"/>
                    <a:pt x="10104" y="10104"/>
                  </a:cubicBezTo>
                  <a:cubicBezTo>
                    <a:pt x="16574" y="3635"/>
                    <a:pt x="25349" y="0"/>
                    <a:pt x="34499" y="0"/>
                  </a:cubicBezTo>
                  <a:close/>
                </a:path>
              </a:pathLst>
            </a:custGeom>
            <a:solidFill>
              <a:srgbClr val="4C68D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32772" cy="116622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30832" y="8545735"/>
            <a:ext cx="107951" cy="10795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B77">
                <a:alpha val="94902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34912" y="8867565"/>
            <a:ext cx="107951" cy="10795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C3B2">
                <a:alpha val="94902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38992" y="9189394"/>
            <a:ext cx="107951" cy="10795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>
                <a:alpha val="94902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035897" y="5854197"/>
            <a:ext cx="3109396" cy="3886521"/>
            <a:chOff x="0" y="0"/>
            <a:chExt cx="1054099" cy="13175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4099" cy="1317548"/>
            </a:xfrm>
            <a:custGeom>
              <a:avLst/>
              <a:gdLst/>
              <a:ahLst/>
              <a:cxnLst/>
              <a:rect r="r" b="b" t="t" l="l"/>
              <a:pathLst>
                <a:path h="1317548" w="1054099">
                  <a:moveTo>
                    <a:pt x="62246" y="0"/>
                  </a:moveTo>
                  <a:lnTo>
                    <a:pt x="991853" y="0"/>
                  </a:lnTo>
                  <a:cubicBezTo>
                    <a:pt x="1026230" y="0"/>
                    <a:pt x="1054099" y="27869"/>
                    <a:pt x="1054099" y="62246"/>
                  </a:cubicBezTo>
                  <a:lnTo>
                    <a:pt x="1054099" y="1255302"/>
                  </a:lnTo>
                  <a:cubicBezTo>
                    <a:pt x="1054099" y="1289679"/>
                    <a:pt x="1026230" y="1317548"/>
                    <a:pt x="991853" y="1317548"/>
                  </a:cubicBezTo>
                  <a:lnTo>
                    <a:pt x="62246" y="1317548"/>
                  </a:lnTo>
                  <a:cubicBezTo>
                    <a:pt x="27869" y="1317548"/>
                    <a:pt x="0" y="1289679"/>
                    <a:pt x="0" y="1255302"/>
                  </a:cubicBezTo>
                  <a:lnTo>
                    <a:pt x="0" y="62246"/>
                  </a:lnTo>
                  <a:cubicBezTo>
                    <a:pt x="0" y="27869"/>
                    <a:pt x="27869" y="0"/>
                    <a:pt x="62246" y="0"/>
                  </a:cubicBezTo>
                  <a:close/>
                </a:path>
              </a:pathLst>
            </a:custGeom>
            <a:solidFill>
              <a:srgbClr val="FAFB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54099" cy="1355648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738174" y="6631456"/>
            <a:ext cx="1704844" cy="1704844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 rot="0">
            <a:off x="14645390" y="8545735"/>
            <a:ext cx="1580804" cy="121638"/>
            <a:chOff x="0" y="0"/>
            <a:chExt cx="296802" cy="228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6802" cy="22838"/>
            </a:xfrm>
            <a:custGeom>
              <a:avLst/>
              <a:gdLst/>
              <a:ahLst/>
              <a:cxnLst/>
              <a:rect r="r" b="b" t="t" l="l"/>
              <a:pathLst>
                <a:path h="22838" w="296802">
                  <a:moveTo>
                    <a:pt x="11419" y="0"/>
                  </a:moveTo>
                  <a:lnTo>
                    <a:pt x="285383" y="0"/>
                  </a:lnTo>
                  <a:cubicBezTo>
                    <a:pt x="291689" y="0"/>
                    <a:pt x="296802" y="5112"/>
                    <a:pt x="296802" y="11419"/>
                  </a:cubicBezTo>
                  <a:lnTo>
                    <a:pt x="296802" y="11419"/>
                  </a:lnTo>
                  <a:cubicBezTo>
                    <a:pt x="296802" y="17726"/>
                    <a:pt x="291689" y="22838"/>
                    <a:pt x="285383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96802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649470" y="8867565"/>
            <a:ext cx="1580804" cy="121638"/>
            <a:chOff x="0" y="0"/>
            <a:chExt cx="296802" cy="228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6802" cy="22838"/>
            </a:xfrm>
            <a:custGeom>
              <a:avLst/>
              <a:gdLst/>
              <a:ahLst/>
              <a:cxnLst/>
              <a:rect r="r" b="b" t="t" l="l"/>
              <a:pathLst>
                <a:path h="22838" w="296802">
                  <a:moveTo>
                    <a:pt x="11419" y="0"/>
                  </a:moveTo>
                  <a:lnTo>
                    <a:pt x="285383" y="0"/>
                  </a:lnTo>
                  <a:cubicBezTo>
                    <a:pt x="291689" y="0"/>
                    <a:pt x="296802" y="5112"/>
                    <a:pt x="296802" y="11419"/>
                  </a:cubicBezTo>
                  <a:lnTo>
                    <a:pt x="296802" y="11419"/>
                  </a:lnTo>
                  <a:cubicBezTo>
                    <a:pt x="296802" y="17726"/>
                    <a:pt x="291689" y="22838"/>
                    <a:pt x="285383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296802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53550" y="9189394"/>
            <a:ext cx="1580804" cy="121638"/>
            <a:chOff x="0" y="0"/>
            <a:chExt cx="296802" cy="228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6802" cy="22838"/>
            </a:xfrm>
            <a:custGeom>
              <a:avLst/>
              <a:gdLst/>
              <a:ahLst/>
              <a:cxnLst/>
              <a:rect r="r" b="b" t="t" l="l"/>
              <a:pathLst>
                <a:path h="22838" w="296802">
                  <a:moveTo>
                    <a:pt x="11419" y="0"/>
                  </a:moveTo>
                  <a:lnTo>
                    <a:pt x="285383" y="0"/>
                  </a:lnTo>
                  <a:cubicBezTo>
                    <a:pt x="291689" y="0"/>
                    <a:pt x="296802" y="5112"/>
                    <a:pt x="296802" y="11419"/>
                  </a:cubicBezTo>
                  <a:lnTo>
                    <a:pt x="296802" y="11419"/>
                  </a:lnTo>
                  <a:cubicBezTo>
                    <a:pt x="296802" y="17726"/>
                    <a:pt x="291689" y="22838"/>
                    <a:pt x="285383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96802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9369608" y="3981378"/>
            <a:ext cx="4422370" cy="4422370"/>
          </a:xfrm>
          <a:custGeom>
            <a:avLst/>
            <a:gdLst/>
            <a:ahLst/>
            <a:cxnLst/>
            <a:rect r="r" b="b" t="t" l="l"/>
            <a:pathLst>
              <a:path h="4422370" w="4422370">
                <a:moveTo>
                  <a:pt x="0" y="0"/>
                </a:moveTo>
                <a:lnTo>
                  <a:pt x="4422370" y="0"/>
                </a:lnTo>
                <a:lnTo>
                  <a:pt x="4422370" y="4422370"/>
                </a:lnTo>
                <a:lnTo>
                  <a:pt x="0" y="4422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0131092" y="4326456"/>
            <a:ext cx="3109396" cy="2938228"/>
            <a:chOff x="0" y="0"/>
            <a:chExt cx="1054099" cy="9960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54099" cy="996072"/>
            </a:xfrm>
            <a:custGeom>
              <a:avLst/>
              <a:gdLst/>
              <a:ahLst/>
              <a:cxnLst/>
              <a:rect r="r" b="b" t="t" l="l"/>
              <a:pathLst>
                <a:path h="996072" w="1054099">
                  <a:moveTo>
                    <a:pt x="62246" y="0"/>
                  </a:moveTo>
                  <a:lnTo>
                    <a:pt x="991853" y="0"/>
                  </a:lnTo>
                  <a:cubicBezTo>
                    <a:pt x="1026230" y="0"/>
                    <a:pt x="1054099" y="27869"/>
                    <a:pt x="1054099" y="62246"/>
                  </a:cubicBezTo>
                  <a:lnTo>
                    <a:pt x="1054099" y="933826"/>
                  </a:lnTo>
                  <a:cubicBezTo>
                    <a:pt x="1054099" y="968204"/>
                    <a:pt x="1026230" y="996072"/>
                    <a:pt x="991853" y="996072"/>
                  </a:cubicBezTo>
                  <a:lnTo>
                    <a:pt x="62246" y="996072"/>
                  </a:lnTo>
                  <a:cubicBezTo>
                    <a:pt x="27869" y="996072"/>
                    <a:pt x="0" y="968204"/>
                    <a:pt x="0" y="933826"/>
                  </a:cubicBezTo>
                  <a:lnTo>
                    <a:pt x="0" y="62246"/>
                  </a:lnTo>
                  <a:cubicBezTo>
                    <a:pt x="0" y="27869"/>
                    <a:pt x="27869" y="0"/>
                    <a:pt x="622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54099" cy="1034172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0526027" y="6463359"/>
            <a:ext cx="407516" cy="407516"/>
          </a:xfrm>
          <a:custGeom>
            <a:avLst/>
            <a:gdLst/>
            <a:ahLst/>
            <a:cxnLst/>
            <a:rect r="r" b="b" t="t" l="l"/>
            <a:pathLst>
              <a:path h="407516" w="407516">
                <a:moveTo>
                  <a:pt x="0" y="0"/>
                </a:moveTo>
                <a:lnTo>
                  <a:pt x="407516" y="0"/>
                </a:lnTo>
                <a:lnTo>
                  <a:pt x="407516" y="407516"/>
                </a:lnTo>
                <a:lnTo>
                  <a:pt x="0" y="4075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9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0526027" y="5608788"/>
            <a:ext cx="407516" cy="354030"/>
          </a:xfrm>
          <a:custGeom>
            <a:avLst/>
            <a:gdLst/>
            <a:ahLst/>
            <a:cxnLst/>
            <a:rect r="r" b="b" t="t" l="l"/>
            <a:pathLst>
              <a:path h="354030" w="407516">
                <a:moveTo>
                  <a:pt x="0" y="0"/>
                </a:moveTo>
                <a:lnTo>
                  <a:pt x="407516" y="0"/>
                </a:lnTo>
                <a:lnTo>
                  <a:pt x="407516" y="354030"/>
                </a:lnTo>
                <a:lnTo>
                  <a:pt x="0" y="3540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9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1060671" y="5608788"/>
            <a:ext cx="1764491" cy="121638"/>
            <a:chOff x="0" y="0"/>
            <a:chExt cx="331290" cy="2283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1290" cy="22838"/>
            </a:xfrm>
            <a:custGeom>
              <a:avLst/>
              <a:gdLst/>
              <a:ahLst/>
              <a:cxnLst/>
              <a:rect r="r" b="b" t="t" l="l"/>
              <a:pathLst>
                <a:path h="22838" w="331290">
                  <a:moveTo>
                    <a:pt x="11419" y="0"/>
                  </a:moveTo>
                  <a:lnTo>
                    <a:pt x="319871" y="0"/>
                  </a:lnTo>
                  <a:cubicBezTo>
                    <a:pt x="326177" y="0"/>
                    <a:pt x="331290" y="5112"/>
                    <a:pt x="331290" y="11419"/>
                  </a:cubicBezTo>
                  <a:lnTo>
                    <a:pt x="331290" y="11419"/>
                  </a:lnTo>
                  <a:cubicBezTo>
                    <a:pt x="331290" y="17726"/>
                    <a:pt x="326177" y="22838"/>
                    <a:pt x="319871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>
                <a:alpha val="94902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331290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073346" y="6463359"/>
            <a:ext cx="1764491" cy="121638"/>
            <a:chOff x="0" y="0"/>
            <a:chExt cx="331290" cy="2283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1290" cy="22838"/>
            </a:xfrm>
            <a:custGeom>
              <a:avLst/>
              <a:gdLst/>
              <a:ahLst/>
              <a:cxnLst/>
              <a:rect r="r" b="b" t="t" l="l"/>
              <a:pathLst>
                <a:path h="22838" w="331290">
                  <a:moveTo>
                    <a:pt x="11419" y="0"/>
                  </a:moveTo>
                  <a:lnTo>
                    <a:pt x="319871" y="0"/>
                  </a:lnTo>
                  <a:cubicBezTo>
                    <a:pt x="326177" y="0"/>
                    <a:pt x="331290" y="5112"/>
                    <a:pt x="331290" y="11419"/>
                  </a:cubicBezTo>
                  <a:lnTo>
                    <a:pt x="331290" y="11419"/>
                  </a:lnTo>
                  <a:cubicBezTo>
                    <a:pt x="331290" y="17726"/>
                    <a:pt x="326177" y="22838"/>
                    <a:pt x="319871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>
                <a:alpha val="94902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331290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131092" y="8064396"/>
            <a:ext cx="3109396" cy="3979544"/>
            <a:chOff x="0" y="0"/>
            <a:chExt cx="1637920" cy="209628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37920" cy="2096283"/>
            </a:xfrm>
            <a:custGeom>
              <a:avLst/>
              <a:gdLst/>
              <a:ahLst/>
              <a:cxnLst/>
              <a:rect r="r" b="b" t="t" l="l"/>
              <a:pathLst>
                <a:path h="2096283" w="1637920">
                  <a:moveTo>
                    <a:pt x="62246" y="0"/>
                  </a:moveTo>
                  <a:lnTo>
                    <a:pt x="1575674" y="0"/>
                  </a:lnTo>
                  <a:cubicBezTo>
                    <a:pt x="1592182" y="0"/>
                    <a:pt x="1608015" y="6558"/>
                    <a:pt x="1619688" y="18231"/>
                  </a:cubicBezTo>
                  <a:cubicBezTo>
                    <a:pt x="1631362" y="29905"/>
                    <a:pt x="1637920" y="45737"/>
                    <a:pt x="1637920" y="62246"/>
                  </a:cubicBezTo>
                  <a:lnTo>
                    <a:pt x="1637920" y="2034037"/>
                  </a:lnTo>
                  <a:cubicBezTo>
                    <a:pt x="1637920" y="2068415"/>
                    <a:pt x="1610051" y="2096283"/>
                    <a:pt x="1575674" y="2096283"/>
                  </a:cubicBezTo>
                  <a:lnTo>
                    <a:pt x="62246" y="2096283"/>
                  </a:lnTo>
                  <a:cubicBezTo>
                    <a:pt x="27869" y="2096283"/>
                    <a:pt x="0" y="2068415"/>
                    <a:pt x="0" y="2034037"/>
                  </a:cubicBezTo>
                  <a:lnTo>
                    <a:pt x="0" y="62246"/>
                  </a:lnTo>
                  <a:cubicBezTo>
                    <a:pt x="0" y="27869"/>
                    <a:pt x="27869" y="0"/>
                    <a:pt x="62246" y="0"/>
                  </a:cubicBezTo>
                  <a:close/>
                </a:path>
              </a:pathLst>
            </a:custGeom>
            <a:solidFill>
              <a:srgbClr val="FAF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637920" cy="2134383"/>
            </a:xfrm>
            <a:prstGeom prst="rect">
              <a:avLst/>
            </a:prstGeom>
          </p:spPr>
          <p:txBody>
            <a:bodyPr anchor="ctr" rtlCol="false" tIns="31832" lIns="31832" bIns="31832" rIns="31832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250408" y="9531170"/>
            <a:ext cx="2869184" cy="717296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 rot="0">
            <a:off x="12655579" y="8284425"/>
            <a:ext cx="364516" cy="364516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4B73">
                <a:alpha val="40000"/>
              </a:srgbClr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1832" lIns="31832" bIns="31832" rIns="31832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491852" y="9128575"/>
            <a:ext cx="1067612" cy="121638"/>
            <a:chOff x="0" y="0"/>
            <a:chExt cx="200448" cy="2283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0448" cy="22838"/>
            </a:xfrm>
            <a:custGeom>
              <a:avLst/>
              <a:gdLst/>
              <a:ahLst/>
              <a:cxnLst/>
              <a:rect r="r" b="b" t="t" l="l"/>
              <a:pathLst>
                <a:path h="22838" w="200448">
                  <a:moveTo>
                    <a:pt x="11419" y="0"/>
                  </a:moveTo>
                  <a:lnTo>
                    <a:pt x="189029" y="0"/>
                  </a:lnTo>
                  <a:cubicBezTo>
                    <a:pt x="195336" y="0"/>
                    <a:pt x="200448" y="5112"/>
                    <a:pt x="200448" y="11419"/>
                  </a:cubicBezTo>
                  <a:lnTo>
                    <a:pt x="200448" y="11419"/>
                  </a:lnTo>
                  <a:cubicBezTo>
                    <a:pt x="200448" y="17726"/>
                    <a:pt x="195336" y="22838"/>
                    <a:pt x="189029" y="22838"/>
                  </a:cubicBezTo>
                  <a:lnTo>
                    <a:pt x="11419" y="22838"/>
                  </a:lnTo>
                  <a:cubicBezTo>
                    <a:pt x="5112" y="22838"/>
                    <a:pt x="0" y="17726"/>
                    <a:pt x="0" y="11419"/>
                  </a:cubicBezTo>
                  <a:lnTo>
                    <a:pt x="0" y="11419"/>
                  </a:lnTo>
                  <a:cubicBezTo>
                    <a:pt x="0" y="5112"/>
                    <a:pt x="5112" y="0"/>
                    <a:pt x="11419" y="0"/>
                  </a:cubicBezTo>
                  <a:close/>
                </a:path>
              </a:pathLst>
            </a:custGeom>
            <a:solidFill>
              <a:srgbClr val="E5EDF1">
                <a:alpha val="94902"/>
              </a:srgbClr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00448" cy="70463"/>
            </a:xfrm>
            <a:prstGeom prst="rect">
              <a:avLst/>
            </a:prstGeom>
          </p:spPr>
          <p:txBody>
            <a:bodyPr anchor="ctr" rtlCol="false" tIns="71260" lIns="71260" bIns="71260" rIns="71260"/>
            <a:lstStyle/>
            <a:p>
              <a:pPr algn="ctr">
                <a:lnSpc>
                  <a:spcPts val="3356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035897" y="-547842"/>
            <a:ext cx="3109396" cy="1859404"/>
            <a:chOff x="0" y="0"/>
            <a:chExt cx="1593911" cy="9531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593912" cy="953152"/>
            </a:xfrm>
            <a:custGeom>
              <a:avLst/>
              <a:gdLst/>
              <a:ahLst/>
              <a:cxnLst/>
              <a:rect r="r" b="b" t="t" l="l"/>
              <a:pathLst>
                <a:path h="953152" w="1593912">
                  <a:moveTo>
                    <a:pt x="62246" y="0"/>
                  </a:moveTo>
                  <a:lnTo>
                    <a:pt x="1531665" y="0"/>
                  </a:lnTo>
                  <a:cubicBezTo>
                    <a:pt x="1548174" y="0"/>
                    <a:pt x="1564007" y="6558"/>
                    <a:pt x="1575680" y="18231"/>
                  </a:cubicBezTo>
                  <a:cubicBezTo>
                    <a:pt x="1587353" y="29905"/>
                    <a:pt x="1593912" y="45737"/>
                    <a:pt x="1593912" y="62246"/>
                  </a:cubicBezTo>
                  <a:lnTo>
                    <a:pt x="1593912" y="890905"/>
                  </a:lnTo>
                  <a:cubicBezTo>
                    <a:pt x="1593912" y="925283"/>
                    <a:pt x="1566043" y="953152"/>
                    <a:pt x="1531665" y="953152"/>
                  </a:cubicBezTo>
                  <a:lnTo>
                    <a:pt x="62246" y="953152"/>
                  </a:lnTo>
                  <a:cubicBezTo>
                    <a:pt x="27869" y="953152"/>
                    <a:pt x="0" y="925283"/>
                    <a:pt x="0" y="890905"/>
                  </a:cubicBezTo>
                  <a:lnTo>
                    <a:pt x="0" y="62246"/>
                  </a:lnTo>
                  <a:cubicBezTo>
                    <a:pt x="0" y="27869"/>
                    <a:pt x="27869" y="0"/>
                    <a:pt x="62246" y="0"/>
                  </a:cubicBezTo>
                  <a:close/>
                </a:path>
              </a:pathLst>
            </a:custGeom>
            <a:solidFill>
              <a:srgbClr val="FAF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593911" cy="991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4404986" y="128463"/>
            <a:ext cx="213748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93447"/>
                </a:solidFill>
                <a:latin typeface="DM Sans Bold"/>
                <a:ea typeface="DM Sans Bold"/>
                <a:cs typeface="DM Sans Bold"/>
                <a:sym typeface="DM Sans Bold"/>
              </a:rPr>
              <a:t>Equity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6130831" y="134114"/>
            <a:ext cx="703850" cy="703850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ADF6">
                <a:alpha val="21961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6321255" y="313772"/>
            <a:ext cx="323000" cy="344534"/>
          </a:xfrm>
          <a:custGeom>
            <a:avLst/>
            <a:gdLst/>
            <a:ahLst/>
            <a:cxnLst/>
            <a:rect r="r" b="b" t="t" l="l"/>
            <a:pathLst>
              <a:path h="344534" w="323000">
                <a:moveTo>
                  <a:pt x="0" y="0"/>
                </a:moveTo>
                <a:lnTo>
                  <a:pt x="323001" y="0"/>
                </a:lnTo>
                <a:lnTo>
                  <a:pt x="323001" y="344534"/>
                </a:lnTo>
                <a:lnTo>
                  <a:pt x="0" y="34453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2727964" y="8368071"/>
            <a:ext cx="219747" cy="197223"/>
          </a:xfrm>
          <a:custGeom>
            <a:avLst/>
            <a:gdLst/>
            <a:ahLst/>
            <a:cxnLst/>
            <a:rect r="r" b="b" t="t" l="l"/>
            <a:pathLst>
              <a:path h="197223" w="219747">
                <a:moveTo>
                  <a:pt x="0" y="0"/>
                </a:moveTo>
                <a:lnTo>
                  <a:pt x="219746" y="0"/>
                </a:lnTo>
                <a:lnTo>
                  <a:pt x="219746" y="197223"/>
                </a:lnTo>
                <a:lnTo>
                  <a:pt x="0" y="19722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4414269" y="8520357"/>
            <a:ext cx="175742" cy="175742"/>
          </a:xfrm>
          <a:custGeom>
            <a:avLst/>
            <a:gdLst/>
            <a:ahLst/>
            <a:cxnLst/>
            <a:rect r="r" b="b" t="t" l="l"/>
            <a:pathLst>
              <a:path h="175742" w="175742">
                <a:moveTo>
                  <a:pt x="0" y="0"/>
                </a:moveTo>
                <a:lnTo>
                  <a:pt x="175742" y="0"/>
                </a:lnTo>
                <a:lnTo>
                  <a:pt x="175742" y="175743"/>
                </a:lnTo>
                <a:lnTo>
                  <a:pt x="0" y="17574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90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4414269" y="8840513"/>
            <a:ext cx="175742" cy="175742"/>
          </a:xfrm>
          <a:custGeom>
            <a:avLst/>
            <a:gdLst/>
            <a:ahLst/>
            <a:cxnLst/>
            <a:rect r="r" b="b" t="t" l="l"/>
            <a:pathLst>
              <a:path h="175742" w="175742">
                <a:moveTo>
                  <a:pt x="0" y="0"/>
                </a:moveTo>
                <a:lnTo>
                  <a:pt x="175742" y="0"/>
                </a:lnTo>
                <a:lnTo>
                  <a:pt x="175742" y="175742"/>
                </a:lnTo>
                <a:lnTo>
                  <a:pt x="0" y="17574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90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4414269" y="9160668"/>
            <a:ext cx="175742" cy="175742"/>
          </a:xfrm>
          <a:custGeom>
            <a:avLst/>
            <a:gdLst/>
            <a:ahLst/>
            <a:cxnLst/>
            <a:rect r="r" b="b" t="t" l="l"/>
            <a:pathLst>
              <a:path h="175742" w="175742">
                <a:moveTo>
                  <a:pt x="0" y="0"/>
                </a:moveTo>
                <a:lnTo>
                  <a:pt x="175742" y="0"/>
                </a:lnTo>
                <a:lnTo>
                  <a:pt x="175742" y="175742"/>
                </a:lnTo>
                <a:lnTo>
                  <a:pt x="0" y="17574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90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028700" y="424642"/>
            <a:ext cx="3379452" cy="1233500"/>
          </a:xfrm>
          <a:custGeom>
            <a:avLst/>
            <a:gdLst/>
            <a:ahLst/>
            <a:cxnLst/>
            <a:rect r="r" b="b" t="t" l="l"/>
            <a:pathLst>
              <a:path h="1233500" w="3379452">
                <a:moveTo>
                  <a:pt x="0" y="0"/>
                </a:moveTo>
                <a:lnTo>
                  <a:pt x="3379452" y="0"/>
                </a:lnTo>
                <a:lnTo>
                  <a:pt x="3379452" y="1233500"/>
                </a:lnTo>
                <a:lnTo>
                  <a:pt x="0" y="12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89" id="89"/>
          <p:cNvSpPr txBox="true"/>
          <p:nvPr/>
        </p:nvSpPr>
        <p:spPr>
          <a:xfrm rot="0">
            <a:off x="14430832" y="6140539"/>
            <a:ext cx="942382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Total Income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438992" y="6345831"/>
            <a:ext cx="790300" cy="31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64" b="true">
                <a:solidFill>
                  <a:srgbClr val="4C68DF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$345M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6420743" y="8491782"/>
            <a:ext cx="321456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/>
                </a:solidFill>
                <a:latin typeface="DM Sans Bold"/>
                <a:ea typeface="DM Sans Bold"/>
                <a:cs typeface="DM Sans Bold"/>
                <a:sym typeface="DM Sans Bold"/>
              </a:rPr>
              <a:t>55%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6424823" y="8813612"/>
            <a:ext cx="321456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/>
                </a:solidFill>
                <a:latin typeface="DM Sans Bold"/>
                <a:ea typeface="DM Sans Bold"/>
                <a:cs typeface="DM Sans Bold"/>
                <a:sym typeface="DM Sans Bold"/>
              </a:rPr>
              <a:t>55%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6428903" y="9135441"/>
            <a:ext cx="321456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/>
                </a:solidFill>
                <a:latin typeface="DM Sans Bold"/>
                <a:ea typeface="DM Sans Bold"/>
                <a:cs typeface="DM Sans Bold"/>
                <a:sym typeface="DM Sans Bold"/>
              </a:rPr>
              <a:t>55%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526027" y="872287"/>
            <a:ext cx="1173125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6"/>
              </a:lnSpc>
            </a:pPr>
            <a:r>
              <a:rPr lang="en-US" sz="1197" b="true">
                <a:solidFill>
                  <a:srgbClr val="393447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Annual Revenue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512666" y="1077579"/>
            <a:ext cx="567490" cy="31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64" b="true">
                <a:solidFill>
                  <a:srgbClr val="4C68DF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$12M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441001" y="2400028"/>
            <a:ext cx="1259678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000000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Current YTD (Q3)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310329" y="3367531"/>
            <a:ext cx="560532" cy="38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246" b="true">
                <a:solidFill>
                  <a:srgbClr val="322C23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72%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5351336" y="4449794"/>
            <a:ext cx="478519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6"/>
              </a:lnSpc>
            </a:pPr>
            <a:r>
              <a:rPr lang="en-US" sz="1197" b="true">
                <a:solidFill>
                  <a:srgbClr val="FFFFFF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Invalid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512666" y="4612798"/>
            <a:ext cx="1294933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Today's Expenses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512666" y="4818089"/>
            <a:ext cx="743125" cy="31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64" b="true">
                <a:solidFill>
                  <a:srgbClr val="4C68DF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$250K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095063" y="5761849"/>
            <a:ext cx="443066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$150K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102731" y="6616420"/>
            <a:ext cx="456732" cy="20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"/>
              </a:lnSpc>
            </a:pPr>
            <a:r>
              <a:rPr lang="en-US" sz="1197" b="true">
                <a:solidFill>
                  <a:srgbClr val="393447">
                    <a:alpha val="94902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$100K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64186" y="2706035"/>
            <a:ext cx="7049191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4"/>
              </a:lnSpc>
            </a:pPr>
            <a:r>
              <a:rPr lang="en-US" sz="79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Growth</a:t>
            </a:r>
            <a:r>
              <a:rPr lang="en-US" sz="791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Strategy Presentation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77789" y="8081517"/>
            <a:ext cx="4371436" cy="43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6"/>
              </a:lnSpc>
            </a:pPr>
            <a:r>
              <a:rPr lang="en-US" sz="25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 By : AKIB AHMED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489507" y="8333263"/>
            <a:ext cx="2080052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93447"/>
                </a:solidFill>
                <a:latin typeface="DM Sans Bold"/>
                <a:ea typeface="DM Sans Bold"/>
                <a:cs typeface="DM Sans Bold"/>
                <a:sym typeface="DM Sans Bold"/>
              </a:rPr>
              <a:t>Loan Approval Rate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489507" y="9313709"/>
            <a:ext cx="1200908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 b="true">
                <a:solidFill>
                  <a:srgbClr val="4C68DF"/>
                </a:solidFill>
                <a:latin typeface="DM Sans Bold"/>
                <a:ea typeface="DM Sans Bold"/>
                <a:cs typeface="DM Sans Bold"/>
                <a:sym typeface="DM Sans Bold"/>
              </a:rPr>
              <a:t>&gt;65%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4404986" y="398063"/>
            <a:ext cx="1234066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 b="true">
                <a:solidFill>
                  <a:srgbClr val="4C68DF"/>
                </a:solidFill>
                <a:latin typeface="DM Sans Bold"/>
                <a:ea typeface="DM Sans Bold"/>
                <a:cs typeface="DM Sans Bold"/>
                <a:sym typeface="DM Sans Bold"/>
              </a:rPr>
              <a:t>55%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4412429" y="818913"/>
            <a:ext cx="1129180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"/>
              </a:lnSpc>
              <a:spcBef>
                <a:spcPct val="0"/>
              </a:spcBef>
            </a:pPr>
            <a:r>
              <a:rPr lang="en-US" sz="899">
                <a:solidFill>
                  <a:srgbClr val="AFA9BF"/>
                </a:solidFill>
                <a:latin typeface="DM Sans"/>
                <a:ea typeface="DM Sans"/>
                <a:cs typeface="DM Sans"/>
                <a:sym typeface="DM Sans"/>
              </a:rPr>
              <a:t>from last month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6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81048" y="2621826"/>
            <a:ext cx="5125904" cy="5125904"/>
          </a:xfrm>
          <a:custGeom>
            <a:avLst/>
            <a:gdLst/>
            <a:ahLst/>
            <a:cxnLst/>
            <a:rect r="r" b="b" t="t" l="l"/>
            <a:pathLst>
              <a:path h="5125904" w="5125904">
                <a:moveTo>
                  <a:pt x="0" y="0"/>
                </a:moveTo>
                <a:lnTo>
                  <a:pt x="5125904" y="0"/>
                </a:lnTo>
                <a:lnTo>
                  <a:pt x="5125904" y="5125904"/>
                </a:lnTo>
                <a:lnTo>
                  <a:pt x="0" y="512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152338" y="2621826"/>
            <a:ext cx="5125904" cy="5125904"/>
          </a:xfrm>
          <a:custGeom>
            <a:avLst/>
            <a:gdLst/>
            <a:ahLst/>
            <a:cxnLst/>
            <a:rect r="r" b="b" t="t" l="l"/>
            <a:pathLst>
              <a:path h="5125904" w="5125904">
                <a:moveTo>
                  <a:pt x="0" y="0"/>
                </a:moveTo>
                <a:lnTo>
                  <a:pt x="5125904" y="0"/>
                </a:lnTo>
                <a:lnTo>
                  <a:pt x="5125904" y="5125904"/>
                </a:lnTo>
                <a:lnTo>
                  <a:pt x="0" y="512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09758" y="2613547"/>
            <a:ext cx="5125904" cy="5125904"/>
          </a:xfrm>
          <a:custGeom>
            <a:avLst/>
            <a:gdLst/>
            <a:ahLst/>
            <a:cxnLst/>
            <a:rect r="r" b="b" t="t" l="l"/>
            <a:pathLst>
              <a:path h="5125904" w="5125904">
                <a:moveTo>
                  <a:pt x="0" y="0"/>
                </a:moveTo>
                <a:lnTo>
                  <a:pt x="5125904" y="0"/>
                </a:lnTo>
                <a:lnTo>
                  <a:pt x="5125904" y="5125904"/>
                </a:lnTo>
                <a:lnTo>
                  <a:pt x="0" y="512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567678" y="2765116"/>
            <a:ext cx="4813345" cy="5972288"/>
            <a:chOff x="0" y="0"/>
            <a:chExt cx="1267712" cy="15729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7712" cy="1572948"/>
            </a:xfrm>
            <a:custGeom>
              <a:avLst/>
              <a:gdLst/>
              <a:ahLst/>
              <a:cxnLst/>
              <a:rect r="r" b="b" t="t" l="l"/>
              <a:pathLst>
                <a:path h="1572948" w="1267712">
                  <a:moveTo>
                    <a:pt x="82030" y="0"/>
                  </a:moveTo>
                  <a:lnTo>
                    <a:pt x="1185682" y="0"/>
                  </a:lnTo>
                  <a:cubicBezTo>
                    <a:pt x="1207438" y="0"/>
                    <a:pt x="1228303" y="8642"/>
                    <a:pt x="1243686" y="24026"/>
                  </a:cubicBezTo>
                  <a:cubicBezTo>
                    <a:pt x="1259070" y="39410"/>
                    <a:pt x="1267712" y="60274"/>
                    <a:pt x="1267712" y="82030"/>
                  </a:cubicBezTo>
                  <a:lnTo>
                    <a:pt x="1267712" y="1490918"/>
                  </a:lnTo>
                  <a:cubicBezTo>
                    <a:pt x="1267712" y="1512674"/>
                    <a:pt x="1259070" y="1533539"/>
                    <a:pt x="1243686" y="1548922"/>
                  </a:cubicBezTo>
                  <a:cubicBezTo>
                    <a:pt x="1228303" y="1564306"/>
                    <a:pt x="1207438" y="1572948"/>
                    <a:pt x="1185682" y="1572948"/>
                  </a:cubicBezTo>
                  <a:lnTo>
                    <a:pt x="82030" y="1572948"/>
                  </a:lnTo>
                  <a:cubicBezTo>
                    <a:pt x="60274" y="1572948"/>
                    <a:pt x="39410" y="1564306"/>
                    <a:pt x="24026" y="1548922"/>
                  </a:cubicBezTo>
                  <a:cubicBezTo>
                    <a:pt x="8642" y="1533539"/>
                    <a:pt x="0" y="1512674"/>
                    <a:pt x="0" y="1490918"/>
                  </a:cubicBezTo>
                  <a:lnTo>
                    <a:pt x="0" y="82030"/>
                  </a:lnTo>
                  <a:cubicBezTo>
                    <a:pt x="0" y="60274"/>
                    <a:pt x="8642" y="39410"/>
                    <a:pt x="24026" y="24026"/>
                  </a:cubicBezTo>
                  <a:cubicBezTo>
                    <a:pt x="39410" y="8642"/>
                    <a:pt x="60274" y="0"/>
                    <a:pt x="82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67712" cy="1601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5662" y="2765116"/>
            <a:ext cx="4016676" cy="5972288"/>
            <a:chOff x="0" y="0"/>
            <a:chExt cx="1057890" cy="1572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7890" cy="1572948"/>
            </a:xfrm>
            <a:custGeom>
              <a:avLst/>
              <a:gdLst/>
              <a:ahLst/>
              <a:cxnLst/>
              <a:rect r="r" b="b" t="t" l="l"/>
              <a:pathLst>
                <a:path h="1572948" w="1057890">
                  <a:moveTo>
                    <a:pt x="98300" y="0"/>
                  </a:moveTo>
                  <a:lnTo>
                    <a:pt x="959590" y="0"/>
                  </a:lnTo>
                  <a:cubicBezTo>
                    <a:pt x="985661" y="0"/>
                    <a:pt x="1010664" y="10357"/>
                    <a:pt x="1029099" y="28791"/>
                  </a:cubicBezTo>
                  <a:cubicBezTo>
                    <a:pt x="1047533" y="47226"/>
                    <a:pt x="1057890" y="72229"/>
                    <a:pt x="1057890" y="98300"/>
                  </a:cubicBezTo>
                  <a:lnTo>
                    <a:pt x="1057890" y="1474649"/>
                  </a:lnTo>
                  <a:cubicBezTo>
                    <a:pt x="1057890" y="1500719"/>
                    <a:pt x="1047533" y="1525722"/>
                    <a:pt x="1029099" y="1544157"/>
                  </a:cubicBezTo>
                  <a:cubicBezTo>
                    <a:pt x="1010664" y="1562592"/>
                    <a:pt x="985661" y="1572948"/>
                    <a:pt x="959590" y="1572948"/>
                  </a:cubicBezTo>
                  <a:lnTo>
                    <a:pt x="98300" y="1572948"/>
                  </a:lnTo>
                  <a:cubicBezTo>
                    <a:pt x="72229" y="1572948"/>
                    <a:pt x="47226" y="1562592"/>
                    <a:pt x="28791" y="1544157"/>
                  </a:cubicBezTo>
                  <a:cubicBezTo>
                    <a:pt x="10357" y="1525722"/>
                    <a:pt x="0" y="1500719"/>
                    <a:pt x="0" y="1474649"/>
                  </a:cubicBezTo>
                  <a:lnTo>
                    <a:pt x="0" y="98300"/>
                  </a:lnTo>
                  <a:cubicBezTo>
                    <a:pt x="0" y="72229"/>
                    <a:pt x="10357" y="47226"/>
                    <a:pt x="28791" y="28791"/>
                  </a:cubicBezTo>
                  <a:cubicBezTo>
                    <a:pt x="47226" y="10357"/>
                    <a:pt x="72229" y="0"/>
                    <a:pt x="983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57890" cy="1601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6977" y="2765116"/>
            <a:ext cx="4675262" cy="5972288"/>
            <a:chOff x="0" y="0"/>
            <a:chExt cx="1231345" cy="15729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1345" cy="1572948"/>
            </a:xfrm>
            <a:custGeom>
              <a:avLst/>
              <a:gdLst/>
              <a:ahLst/>
              <a:cxnLst/>
              <a:rect r="r" b="b" t="t" l="l"/>
              <a:pathLst>
                <a:path h="1572948" w="1231345">
                  <a:moveTo>
                    <a:pt x="84453" y="0"/>
                  </a:moveTo>
                  <a:lnTo>
                    <a:pt x="1146892" y="0"/>
                  </a:lnTo>
                  <a:cubicBezTo>
                    <a:pt x="1169290" y="0"/>
                    <a:pt x="1190771" y="8898"/>
                    <a:pt x="1206609" y="24736"/>
                  </a:cubicBezTo>
                  <a:cubicBezTo>
                    <a:pt x="1222447" y="40574"/>
                    <a:pt x="1231345" y="62054"/>
                    <a:pt x="1231345" y="84453"/>
                  </a:cubicBezTo>
                  <a:lnTo>
                    <a:pt x="1231345" y="1488496"/>
                  </a:lnTo>
                  <a:cubicBezTo>
                    <a:pt x="1231345" y="1510894"/>
                    <a:pt x="1222447" y="1532375"/>
                    <a:pt x="1206609" y="1548213"/>
                  </a:cubicBezTo>
                  <a:cubicBezTo>
                    <a:pt x="1190771" y="1564051"/>
                    <a:pt x="1169290" y="1572948"/>
                    <a:pt x="1146892" y="1572948"/>
                  </a:cubicBezTo>
                  <a:lnTo>
                    <a:pt x="84453" y="1572948"/>
                  </a:lnTo>
                  <a:cubicBezTo>
                    <a:pt x="62054" y="1572948"/>
                    <a:pt x="40574" y="1564051"/>
                    <a:pt x="24736" y="1548213"/>
                  </a:cubicBezTo>
                  <a:cubicBezTo>
                    <a:pt x="8898" y="1532375"/>
                    <a:pt x="0" y="1510894"/>
                    <a:pt x="0" y="1488496"/>
                  </a:cubicBezTo>
                  <a:lnTo>
                    <a:pt x="0" y="84453"/>
                  </a:lnTo>
                  <a:cubicBezTo>
                    <a:pt x="0" y="62054"/>
                    <a:pt x="8898" y="40574"/>
                    <a:pt x="24736" y="24736"/>
                  </a:cubicBezTo>
                  <a:cubicBezTo>
                    <a:pt x="40574" y="8898"/>
                    <a:pt x="62054" y="0"/>
                    <a:pt x="8445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31345" cy="1601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8100000">
            <a:off x="-1256469" y="-601830"/>
            <a:ext cx="4815134" cy="1950129"/>
          </a:xfrm>
          <a:custGeom>
            <a:avLst/>
            <a:gdLst/>
            <a:ahLst/>
            <a:cxnLst/>
            <a:rect r="r" b="b" t="t" l="l"/>
            <a:pathLst>
              <a:path h="1950129" w="4815134">
                <a:moveTo>
                  <a:pt x="0" y="0"/>
                </a:moveTo>
                <a:lnTo>
                  <a:pt x="4815135" y="0"/>
                </a:lnTo>
                <a:lnTo>
                  <a:pt x="4815135" y="1950129"/>
                </a:lnTo>
                <a:lnTo>
                  <a:pt x="0" y="1950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3634589">
            <a:off x="14350167" y="8485247"/>
            <a:ext cx="6215380" cy="2517229"/>
          </a:xfrm>
          <a:custGeom>
            <a:avLst/>
            <a:gdLst/>
            <a:ahLst/>
            <a:cxnLst/>
            <a:rect r="r" b="b" t="t" l="l"/>
            <a:pathLst>
              <a:path h="2517229" w="6215380">
                <a:moveTo>
                  <a:pt x="0" y="0"/>
                </a:moveTo>
                <a:lnTo>
                  <a:pt x="6215380" y="0"/>
                </a:lnTo>
                <a:lnTo>
                  <a:pt x="6215380" y="2517229"/>
                </a:lnTo>
                <a:lnTo>
                  <a:pt x="0" y="2517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90875" y="3532307"/>
            <a:ext cx="1306250" cy="1193586"/>
          </a:xfrm>
          <a:custGeom>
            <a:avLst/>
            <a:gdLst/>
            <a:ahLst/>
            <a:cxnLst/>
            <a:rect r="r" b="b" t="t" l="l"/>
            <a:pathLst>
              <a:path h="1193586" w="1306250">
                <a:moveTo>
                  <a:pt x="0" y="0"/>
                </a:moveTo>
                <a:lnTo>
                  <a:pt x="1306250" y="0"/>
                </a:lnTo>
                <a:lnTo>
                  <a:pt x="1306250" y="1193585"/>
                </a:lnTo>
                <a:lnTo>
                  <a:pt x="0" y="1193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92326" y="3532307"/>
            <a:ext cx="1304563" cy="1157800"/>
          </a:xfrm>
          <a:custGeom>
            <a:avLst/>
            <a:gdLst/>
            <a:ahLst/>
            <a:cxnLst/>
            <a:rect r="r" b="b" t="t" l="l"/>
            <a:pathLst>
              <a:path h="1157800" w="1304563">
                <a:moveTo>
                  <a:pt x="0" y="0"/>
                </a:moveTo>
                <a:lnTo>
                  <a:pt x="1304563" y="0"/>
                </a:lnTo>
                <a:lnTo>
                  <a:pt x="1304563" y="1157799"/>
                </a:lnTo>
                <a:lnTo>
                  <a:pt x="0" y="115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278353" y="3532307"/>
            <a:ext cx="1315403" cy="1233191"/>
          </a:xfrm>
          <a:custGeom>
            <a:avLst/>
            <a:gdLst/>
            <a:ahLst/>
            <a:cxnLst/>
            <a:rect r="r" b="b" t="t" l="l"/>
            <a:pathLst>
              <a:path h="1233191" w="1315403">
                <a:moveTo>
                  <a:pt x="0" y="0"/>
                </a:moveTo>
                <a:lnTo>
                  <a:pt x="1315403" y="0"/>
                </a:lnTo>
                <a:lnTo>
                  <a:pt x="1315403" y="1233190"/>
                </a:lnTo>
                <a:lnTo>
                  <a:pt x="0" y="1233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68250" y="1028700"/>
            <a:ext cx="87515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</a:t>
            </a:r>
            <a:r>
              <a:rPr lang="en-US" sz="6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Summary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60748" y="5137153"/>
            <a:ext cx="25887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86949" y="5137153"/>
            <a:ext cx="211410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Core Problem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11927" y="5137153"/>
            <a:ext cx="18454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The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6472" y="6076330"/>
            <a:ext cx="4099166" cy="166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Capt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ure a projected 10% revenue recovery by fixing high-value friction points in the conversion funnel.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35687" y="6076330"/>
            <a:ext cx="3679210" cy="208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80% of 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revenue leakage is concentrated in high-AOV categories (Books &amp; Electronics) despite high user intent.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79076" y="5972788"/>
            <a:ext cx="4099166" cy="208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data-back</a:t>
            </a:r>
            <a:r>
              <a:rPr lang="en-US" sz="239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roadmap focused on removing UI friction and leveraging social proof to anchor high-value traffic.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99437" y="2323424"/>
            <a:ext cx="11559863" cy="6773862"/>
            <a:chOff x="0" y="0"/>
            <a:chExt cx="3815599" cy="2235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5599" cy="2235870"/>
            </a:xfrm>
            <a:custGeom>
              <a:avLst/>
              <a:gdLst/>
              <a:ahLst/>
              <a:cxnLst/>
              <a:rect r="r" b="b" t="t" l="l"/>
              <a:pathLst>
                <a:path h="2235870" w="3815599">
                  <a:moveTo>
                    <a:pt x="23440" y="0"/>
                  </a:moveTo>
                  <a:lnTo>
                    <a:pt x="3792159" y="0"/>
                  </a:lnTo>
                  <a:cubicBezTo>
                    <a:pt x="3805105" y="0"/>
                    <a:pt x="3815599" y="10495"/>
                    <a:pt x="3815599" y="23440"/>
                  </a:cubicBezTo>
                  <a:lnTo>
                    <a:pt x="3815599" y="2212429"/>
                  </a:lnTo>
                  <a:cubicBezTo>
                    <a:pt x="3815599" y="2218646"/>
                    <a:pt x="3813130" y="2224608"/>
                    <a:pt x="3808734" y="2229004"/>
                  </a:cubicBezTo>
                  <a:cubicBezTo>
                    <a:pt x="3804338" y="2233400"/>
                    <a:pt x="3798376" y="2235870"/>
                    <a:pt x="3792159" y="2235870"/>
                  </a:cubicBezTo>
                  <a:lnTo>
                    <a:pt x="23440" y="2235870"/>
                  </a:lnTo>
                  <a:cubicBezTo>
                    <a:pt x="10495" y="2235870"/>
                    <a:pt x="0" y="2225375"/>
                    <a:pt x="0" y="2212429"/>
                  </a:cubicBezTo>
                  <a:lnTo>
                    <a:pt x="0" y="23440"/>
                  </a:lnTo>
                  <a:cubicBezTo>
                    <a:pt x="0" y="10495"/>
                    <a:pt x="10495" y="0"/>
                    <a:pt x="234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5599" cy="2273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58650" y="7096330"/>
            <a:ext cx="4306187" cy="2459910"/>
          </a:xfrm>
          <a:custGeom>
            <a:avLst/>
            <a:gdLst/>
            <a:ahLst/>
            <a:cxnLst/>
            <a:rect r="r" b="b" t="t" l="l"/>
            <a:pathLst>
              <a:path h="2459910" w="4306187">
                <a:moveTo>
                  <a:pt x="0" y="0"/>
                </a:moveTo>
                <a:lnTo>
                  <a:pt x="4306188" y="0"/>
                </a:lnTo>
                <a:lnTo>
                  <a:pt x="4306188" y="2459910"/>
                </a:lnTo>
                <a:lnTo>
                  <a:pt x="0" y="2459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7057163"/>
            <a:ext cx="4336138" cy="2040124"/>
            <a:chOff x="0" y="0"/>
            <a:chExt cx="1593911" cy="7499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3912" cy="749925"/>
            </a:xfrm>
            <a:custGeom>
              <a:avLst/>
              <a:gdLst/>
              <a:ahLst/>
              <a:cxnLst/>
              <a:rect r="r" b="b" t="t" l="l"/>
              <a:pathLst>
                <a:path h="749925" w="1593912">
                  <a:moveTo>
                    <a:pt x="62490" y="0"/>
                  </a:moveTo>
                  <a:lnTo>
                    <a:pt x="1531421" y="0"/>
                  </a:lnTo>
                  <a:cubicBezTo>
                    <a:pt x="1547995" y="0"/>
                    <a:pt x="1563889" y="6584"/>
                    <a:pt x="1575608" y="18303"/>
                  </a:cubicBezTo>
                  <a:cubicBezTo>
                    <a:pt x="1587328" y="30022"/>
                    <a:pt x="1593912" y="45917"/>
                    <a:pt x="1593912" y="62490"/>
                  </a:cubicBezTo>
                  <a:lnTo>
                    <a:pt x="1593912" y="687434"/>
                  </a:lnTo>
                  <a:cubicBezTo>
                    <a:pt x="1593912" y="721947"/>
                    <a:pt x="1565934" y="749925"/>
                    <a:pt x="1531421" y="749925"/>
                  </a:cubicBezTo>
                  <a:lnTo>
                    <a:pt x="62490" y="749925"/>
                  </a:lnTo>
                  <a:cubicBezTo>
                    <a:pt x="45917" y="749925"/>
                    <a:pt x="30022" y="743341"/>
                    <a:pt x="18303" y="731622"/>
                  </a:cubicBezTo>
                  <a:cubicBezTo>
                    <a:pt x="6584" y="719902"/>
                    <a:pt x="0" y="704008"/>
                    <a:pt x="0" y="687434"/>
                  </a:cubicBezTo>
                  <a:lnTo>
                    <a:pt x="0" y="62490"/>
                  </a:lnTo>
                  <a:cubicBezTo>
                    <a:pt x="0" y="27978"/>
                    <a:pt x="27978" y="0"/>
                    <a:pt x="62490" y="0"/>
                  </a:cubicBezTo>
                  <a:close/>
                </a:path>
              </a:pathLst>
            </a:custGeom>
            <a:solidFill>
              <a:srgbClr val="FA4B7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93911" cy="78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2596" y="7399072"/>
            <a:ext cx="502691" cy="5026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58650" y="4740738"/>
            <a:ext cx="4276237" cy="2442800"/>
          </a:xfrm>
          <a:custGeom>
            <a:avLst/>
            <a:gdLst/>
            <a:ahLst/>
            <a:cxnLst/>
            <a:rect r="r" b="b" t="t" l="l"/>
            <a:pathLst>
              <a:path h="2442800" w="4276237">
                <a:moveTo>
                  <a:pt x="0" y="0"/>
                </a:moveTo>
                <a:lnTo>
                  <a:pt x="4276237" y="0"/>
                </a:lnTo>
                <a:lnTo>
                  <a:pt x="4276237" y="2442800"/>
                </a:lnTo>
                <a:lnTo>
                  <a:pt x="0" y="244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1028700" y="4688389"/>
            <a:ext cx="4336138" cy="2040124"/>
            <a:chOff x="0" y="0"/>
            <a:chExt cx="1593911" cy="749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3912" cy="749925"/>
            </a:xfrm>
            <a:custGeom>
              <a:avLst/>
              <a:gdLst/>
              <a:ahLst/>
              <a:cxnLst/>
              <a:rect r="r" b="b" t="t" l="l"/>
              <a:pathLst>
                <a:path h="749925" w="1593912">
                  <a:moveTo>
                    <a:pt x="62490" y="0"/>
                  </a:moveTo>
                  <a:lnTo>
                    <a:pt x="1531421" y="0"/>
                  </a:lnTo>
                  <a:cubicBezTo>
                    <a:pt x="1547995" y="0"/>
                    <a:pt x="1563889" y="6584"/>
                    <a:pt x="1575608" y="18303"/>
                  </a:cubicBezTo>
                  <a:cubicBezTo>
                    <a:pt x="1587328" y="30022"/>
                    <a:pt x="1593912" y="45917"/>
                    <a:pt x="1593912" y="62490"/>
                  </a:cubicBezTo>
                  <a:lnTo>
                    <a:pt x="1593912" y="687434"/>
                  </a:lnTo>
                  <a:cubicBezTo>
                    <a:pt x="1593912" y="721947"/>
                    <a:pt x="1565934" y="749925"/>
                    <a:pt x="1531421" y="749925"/>
                  </a:cubicBezTo>
                  <a:lnTo>
                    <a:pt x="62490" y="749925"/>
                  </a:lnTo>
                  <a:cubicBezTo>
                    <a:pt x="45917" y="749925"/>
                    <a:pt x="30022" y="743341"/>
                    <a:pt x="18303" y="731622"/>
                  </a:cubicBezTo>
                  <a:cubicBezTo>
                    <a:pt x="6584" y="719902"/>
                    <a:pt x="0" y="704008"/>
                    <a:pt x="0" y="687434"/>
                  </a:cubicBezTo>
                  <a:lnTo>
                    <a:pt x="0" y="62490"/>
                  </a:lnTo>
                  <a:cubicBezTo>
                    <a:pt x="0" y="27978"/>
                    <a:pt x="27978" y="0"/>
                    <a:pt x="62490" y="0"/>
                  </a:cubicBezTo>
                  <a:close/>
                </a:path>
              </a:pathLst>
            </a:custGeom>
            <a:solidFill>
              <a:srgbClr val="FCBD2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93911" cy="78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1782" y="5021757"/>
            <a:ext cx="502691" cy="5026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28700" y="2345026"/>
            <a:ext cx="4335526" cy="2476669"/>
          </a:xfrm>
          <a:custGeom>
            <a:avLst/>
            <a:gdLst/>
            <a:ahLst/>
            <a:cxnLst/>
            <a:rect r="r" b="b" t="t" l="l"/>
            <a:pathLst>
              <a:path h="2476669" w="4335526">
                <a:moveTo>
                  <a:pt x="0" y="0"/>
                </a:moveTo>
                <a:lnTo>
                  <a:pt x="4335526" y="0"/>
                </a:lnTo>
                <a:lnTo>
                  <a:pt x="4335526" y="2476669"/>
                </a:lnTo>
                <a:lnTo>
                  <a:pt x="0" y="2476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960386" y="2323424"/>
            <a:ext cx="4336138" cy="2040124"/>
            <a:chOff x="0" y="0"/>
            <a:chExt cx="1593911" cy="7499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93912" cy="749925"/>
            </a:xfrm>
            <a:custGeom>
              <a:avLst/>
              <a:gdLst/>
              <a:ahLst/>
              <a:cxnLst/>
              <a:rect r="r" b="b" t="t" l="l"/>
              <a:pathLst>
                <a:path h="749925" w="1593912">
                  <a:moveTo>
                    <a:pt x="62490" y="0"/>
                  </a:moveTo>
                  <a:lnTo>
                    <a:pt x="1531421" y="0"/>
                  </a:lnTo>
                  <a:cubicBezTo>
                    <a:pt x="1547995" y="0"/>
                    <a:pt x="1563889" y="6584"/>
                    <a:pt x="1575608" y="18303"/>
                  </a:cubicBezTo>
                  <a:cubicBezTo>
                    <a:pt x="1587328" y="30022"/>
                    <a:pt x="1593912" y="45917"/>
                    <a:pt x="1593912" y="62490"/>
                  </a:cubicBezTo>
                  <a:lnTo>
                    <a:pt x="1593912" y="687434"/>
                  </a:lnTo>
                  <a:cubicBezTo>
                    <a:pt x="1593912" y="721947"/>
                    <a:pt x="1565934" y="749925"/>
                    <a:pt x="1531421" y="749925"/>
                  </a:cubicBezTo>
                  <a:lnTo>
                    <a:pt x="62490" y="749925"/>
                  </a:lnTo>
                  <a:cubicBezTo>
                    <a:pt x="45917" y="749925"/>
                    <a:pt x="30022" y="743341"/>
                    <a:pt x="18303" y="731622"/>
                  </a:cubicBezTo>
                  <a:cubicBezTo>
                    <a:pt x="6584" y="719902"/>
                    <a:pt x="0" y="704008"/>
                    <a:pt x="0" y="687434"/>
                  </a:cubicBezTo>
                  <a:lnTo>
                    <a:pt x="0" y="62490"/>
                  </a:lnTo>
                  <a:cubicBezTo>
                    <a:pt x="0" y="27978"/>
                    <a:pt x="27978" y="0"/>
                    <a:pt x="62490" y="0"/>
                  </a:cubicBezTo>
                  <a:close/>
                </a:path>
              </a:pathLst>
            </a:custGeom>
            <a:solidFill>
              <a:srgbClr val="4C68D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93911" cy="78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3744" y="2640024"/>
            <a:ext cx="502691" cy="5026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31782" y="2750289"/>
            <a:ext cx="282160" cy="282160"/>
          </a:xfrm>
          <a:custGeom>
            <a:avLst/>
            <a:gdLst/>
            <a:ahLst/>
            <a:cxnLst/>
            <a:rect r="r" b="b" t="t" l="l"/>
            <a:pathLst>
              <a:path h="282160" w="282160">
                <a:moveTo>
                  <a:pt x="0" y="0"/>
                </a:moveTo>
                <a:lnTo>
                  <a:pt x="282160" y="0"/>
                </a:lnTo>
                <a:lnTo>
                  <a:pt x="282160" y="282161"/>
                </a:lnTo>
                <a:lnTo>
                  <a:pt x="0" y="282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91069" y="7507388"/>
            <a:ext cx="245746" cy="284511"/>
          </a:xfrm>
          <a:custGeom>
            <a:avLst/>
            <a:gdLst/>
            <a:ahLst/>
            <a:cxnLst/>
            <a:rect r="r" b="b" t="t" l="l"/>
            <a:pathLst>
              <a:path h="284511" w="245746">
                <a:moveTo>
                  <a:pt x="0" y="0"/>
                </a:moveTo>
                <a:lnTo>
                  <a:pt x="245746" y="0"/>
                </a:lnTo>
                <a:lnTo>
                  <a:pt x="245746" y="284511"/>
                </a:lnTo>
                <a:lnTo>
                  <a:pt x="0" y="284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44275" y="5128213"/>
            <a:ext cx="282160" cy="282160"/>
          </a:xfrm>
          <a:custGeom>
            <a:avLst/>
            <a:gdLst/>
            <a:ahLst/>
            <a:cxnLst/>
            <a:rect r="r" b="b" t="t" l="l"/>
            <a:pathLst>
              <a:path h="282160" w="282160">
                <a:moveTo>
                  <a:pt x="0" y="0"/>
                </a:moveTo>
                <a:lnTo>
                  <a:pt x="282160" y="0"/>
                </a:lnTo>
                <a:lnTo>
                  <a:pt x="282160" y="282160"/>
                </a:lnTo>
                <a:lnTo>
                  <a:pt x="0" y="2821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5967358" y="-2343085"/>
            <a:ext cx="1049274" cy="4114800"/>
          </a:xfrm>
          <a:custGeom>
            <a:avLst/>
            <a:gdLst/>
            <a:ahLst/>
            <a:cxnLst/>
            <a:rect r="r" b="b" t="t" l="l"/>
            <a:pathLst>
              <a:path h="4114800" w="1049274">
                <a:moveTo>
                  <a:pt x="0" y="0"/>
                </a:moveTo>
                <a:lnTo>
                  <a:pt x="1049274" y="0"/>
                </a:lnTo>
                <a:lnTo>
                  <a:pt x="1049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11046" y="3409742"/>
            <a:ext cx="9392695" cy="5218426"/>
          </a:xfrm>
          <a:custGeom>
            <a:avLst/>
            <a:gdLst/>
            <a:ahLst/>
            <a:cxnLst/>
            <a:rect r="r" b="b" t="t" l="l"/>
            <a:pathLst>
              <a:path h="5218426" w="9392695">
                <a:moveTo>
                  <a:pt x="0" y="0"/>
                </a:moveTo>
                <a:lnTo>
                  <a:pt x="9392694" y="0"/>
                </a:lnTo>
                <a:lnTo>
                  <a:pt x="9392694" y="5218426"/>
                </a:lnTo>
                <a:lnTo>
                  <a:pt x="0" y="52184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647" r="0" b="-5647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942181" y="2692932"/>
            <a:ext cx="311711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Revenue Opportunity Gap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43404" y="3260891"/>
            <a:ext cx="242520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442,626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53783" y="3745012"/>
            <a:ext cx="1574672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on target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42181" y="5061123"/>
            <a:ext cx="364954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Current Baseline Efficiency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43404" y="5715397"/>
            <a:ext cx="172093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2.1% CVR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53783" y="6234821"/>
            <a:ext cx="1574672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@</a:t>
            </a:r>
            <a:r>
              <a:rPr lang="en-US" sz="1599">
                <a:solidFill>
                  <a:srgbClr val="FFFFFF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 910.67 AOV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76219" y="7440713"/>
            <a:ext cx="372321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Forecast Revenue Recovery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43404" y="7998440"/>
            <a:ext cx="172093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44,263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53783" y="8482561"/>
            <a:ext cx="1710558" cy="273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Expec</a:t>
            </a:r>
            <a:r>
              <a:rPr lang="en-US" sz="1599">
                <a:solidFill>
                  <a:srgbClr val="FFFFFF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ted Growth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255453" y="2756635"/>
            <a:ext cx="602128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Pareto Opportunity Analysis (The 80/20 Rule)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1028700"/>
            <a:ext cx="16649074" cy="91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Concentration</a:t>
            </a: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Pareto 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Analysis)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25783">
            <a:off x="14010186" y="-2984264"/>
            <a:ext cx="6915214" cy="6923869"/>
          </a:xfrm>
          <a:custGeom>
            <a:avLst/>
            <a:gdLst/>
            <a:ahLst/>
            <a:cxnLst/>
            <a:rect r="r" b="b" t="t" l="l"/>
            <a:pathLst>
              <a:path h="6923869" w="6915214">
                <a:moveTo>
                  <a:pt x="0" y="0"/>
                </a:moveTo>
                <a:lnTo>
                  <a:pt x="6915214" y="0"/>
                </a:lnTo>
                <a:lnTo>
                  <a:pt x="6915214" y="6923868"/>
                </a:lnTo>
                <a:lnTo>
                  <a:pt x="0" y="6923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14638">
            <a:off x="-1198754" y="761221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2478600"/>
            <a:ext cx="16230600" cy="6779700"/>
            <a:chOff x="0" y="0"/>
            <a:chExt cx="2384597" cy="996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4597" cy="996072"/>
            </a:xfrm>
            <a:custGeom>
              <a:avLst/>
              <a:gdLst/>
              <a:ahLst/>
              <a:cxnLst/>
              <a:rect r="r" b="b" t="t" l="l"/>
              <a:pathLst>
                <a:path h="996072" w="2384597">
                  <a:moveTo>
                    <a:pt x="16695" y="0"/>
                  </a:moveTo>
                  <a:lnTo>
                    <a:pt x="2367902" y="0"/>
                  </a:lnTo>
                  <a:cubicBezTo>
                    <a:pt x="2372329" y="0"/>
                    <a:pt x="2376576" y="1759"/>
                    <a:pt x="2379707" y="4890"/>
                  </a:cubicBezTo>
                  <a:cubicBezTo>
                    <a:pt x="2382838" y="8021"/>
                    <a:pt x="2384597" y="12267"/>
                    <a:pt x="2384597" y="16695"/>
                  </a:cubicBezTo>
                  <a:lnTo>
                    <a:pt x="2384597" y="979377"/>
                  </a:lnTo>
                  <a:cubicBezTo>
                    <a:pt x="2384597" y="983805"/>
                    <a:pt x="2382838" y="988051"/>
                    <a:pt x="2379707" y="991182"/>
                  </a:cubicBezTo>
                  <a:cubicBezTo>
                    <a:pt x="2376576" y="994313"/>
                    <a:pt x="2372329" y="996072"/>
                    <a:pt x="2367902" y="996072"/>
                  </a:cubicBezTo>
                  <a:lnTo>
                    <a:pt x="16695" y="996072"/>
                  </a:lnTo>
                  <a:cubicBezTo>
                    <a:pt x="12267" y="996072"/>
                    <a:pt x="8021" y="994313"/>
                    <a:pt x="4890" y="991182"/>
                  </a:cubicBezTo>
                  <a:cubicBezTo>
                    <a:pt x="1759" y="988051"/>
                    <a:pt x="0" y="983805"/>
                    <a:pt x="0" y="979377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84597" cy="1034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610655" y="3190934"/>
          <a:ext cx="15066689" cy="5753100"/>
        </p:xfrm>
        <a:graphic>
          <a:graphicData uri="http://schemas.openxmlformats.org/drawingml/2006/table">
            <a:tbl>
              <a:tblPr/>
              <a:tblGrid>
                <a:gridCol w="3766672"/>
                <a:gridCol w="3766672"/>
                <a:gridCol w="3766672"/>
                <a:gridCol w="3766672"/>
              </a:tblGrid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D2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B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68D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ICE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38E3"/>
                    </a:solidFill>
                  </a:tcPr>
                </a:tc>
              </a:tr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322C23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Days 1-20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Frictionless Checkout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UX Fix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</a:tr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322C23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Days 1-20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Social Proof Anchor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Copy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322C23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Days 21-45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Benefit-Driven UI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UX Fix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F1"/>
                    </a:solidFill>
                  </a:tcPr>
                </a:tc>
              </a:tr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322C23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Days 21-45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Exit-Intent Recovery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322C23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Days 46-60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High-Value Bundles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8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322C23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Days 46-60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Retention Loop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85858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17704441" y="9496137"/>
            <a:ext cx="1810465" cy="1819563"/>
          </a:xfrm>
          <a:custGeom>
            <a:avLst/>
            <a:gdLst/>
            <a:ahLst/>
            <a:cxnLst/>
            <a:rect r="r" b="b" t="t" l="l"/>
            <a:pathLst>
              <a:path h="1819563" w="1810465">
                <a:moveTo>
                  <a:pt x="0" y="0"/>
                </a:moveTo>
                <a:lnTo>
                  <a:pt x="1810465" y="0"/>
                </a:lnTo>
                <a:lnTo>
                  <a:pt x="1810465" y="1819563"/>
                </a:lnTo>
                <a:lnTo>
                  <a:pt x="0" y="1819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28700"/>
            <a:ext cx="1130576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60-Day Strategic Roadmap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505486">
            <a:off x="-3370849" y="7833716"/>
            <a:ext cx="6684547" cy="5712503"/>
          </a:xfrm>
          <a:custGeom>
            <a:avLst/>
            <a:gdLst/>
            <a:ahLst/>
            <a:cxnLst/>
            <a:rect r="r" b="b" t="t" l="l"/>
            <a:pathLst>
              <a:path h="5712503" w="6684547">
                <a:moveTo>
                  <a:pt x="0" y="0"/>
                </a:moveTo>
                <a:lnTo>
                  <a:pt x="6684548" y="0"/>
                </a:lnTo>
                <a:lnTo>
                  <a:pt x="6684548" y="5712503"/>
                </a:lnTo>
                <a:lnTo>
                  <a:pt x="0" y="57125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364068" y="8740178"/>
            <a:ext cx="11559863" cy="1050342"/>
            <a:chOff x="0" y="0"/>
            <a:chExt cx="3815599" cy="346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5599" cy="346690"/>
            </a:xfrm>
            <a:custGeom>
              <a:avLst/>
              <a:gdLst/>
              <a:ahLst/>
              <a:cxnLst/>
              <a:rect r="r" b="b" t="t" l="l"/>
              <a:pathLst>
                <a:path h="346690" w="3815599">
                  <a:moveTo>
                    <a:pt x="23440" y="0"/>
                  </a:moveTo>
                  <a:lnTo>
                    <a:pt x="3792159" y="0"/>
                  </a:lnTo>
                  <a:cubicBezTo>
                    <a:pt x="3805105" y="0"/>
                    <a:pt x="3815599" y="10495"/>
                    <a:pt x="3815599" y="23440"/>
                  </a:cubicBezTo>
                  <a:lnTo>
                    <a:pt x="3815599" y="323249"/>
                  </a:lnTo>
                  <a:cubicBezTo>
                    <a:pt x="3815599" y="329466"/>
                    <a:pt x="3813130" y="335428"/>
                    <a:pt x="3808734" y="339824"/>
                  </a:cubicBezTo>
                  <a:cubicBezTo>
                    <a:pt x="3804338" y="344220"/>
                    <a:pt x="3798376" y="346690"/>
                    <a:pt x="3792159" y="346690"/>
                  </a:cubicBezTo>
                  <a:lnTo>
                    <a:pt x="23440" y="346690"/>
                  </a:lnTo>
                  <a:cubicBezTo>
                    <a:pt x="10495" y="346690"/>
                    <a:pt x="0" y="336195"/>
                    <a:pt x="0" y="323249"/>
                  </a:cubicBezTo>
                  <a:lnTo>
                    <a:pt x="0" y="23440"/>
                  </a:lnTo>
                  <a:cubicBezTo>
                    <a:pt x="0" y="10495"/>
                    <a:pt x="10495" y="0"/>
                    <a:pt x="23440" y="0"/>
                  </a:cubicBezTo>
                  <a:close/>
                </a:path>
              </a:pathLst>
            </a:custGeom>
            <a:solidFill>
              <a:srgbClr val="8638E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15599" cy="384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028700"/>
            <a:ext cx="1051281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UX Improvements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12472" y="9038653"/>
            <a:ext cx="986305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Balanced diversification delivered consistent returns above benchmarks.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478708"/>
            <a:ext cx="15518241" cy="5394694"/>
            <a:chOff x="0" y="0"/>
            <a:chExt cx="5122153" cy="1780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2153" cy="1780643"/>
            </a:xfrm>
            <a:custGeom>
              <a:avLst/>
              <a:gdLst/>
              <a:ahLst/>
              <a:cxnLst/>
              <a:rect r="r" b="b" t="t" l="l"/>
              <a:pathLst>
                <a:path h="1780643" w="5122153">
                  <a:moveTo>
                    <a:pt x="17461" y="0"/>
                  </a:moveTo>
                  <a:lnTo>
                    <a:pt x="5104692" y="0"/>
                  </a:lnTo>
                  <a:cubicBezTo>
                    <a:pt x="5114336" y="0"/>
                    <a:pt x="5122153" y="7818"/>
                    <a:pt x="5122153" y="17461"/>
                  </a:cubicBezTo>
                  <a:lnTo>
                    <a:pt x="5122153" y="1763182"/>
                  </a:lnTo>
                  <a:cubicBezTo>
                    <a:pt x="5122153" y="1772826"/>
                    <a:pt x="5114336" y="1780643"/>
                    <a:pt x="5104692" y="1780643"/>
                  </a:cubicBezTo>
                  <a:lnTo>
                    <a:pt x="17461" y="1780643"/>
                  </a:lnTo>
                  <a:cubicBezTo>
                    <a:pt x="12830" y="1780643"/>
                    <a:pt x="8389" y="1778804"/>
                    <a:pt x="5114" y="1775529"/>
                  </a:cubicBezTo>
                  <a:cubicBezTo>
                    <a:pt x="1840" y="1772254"/>
                    <a:pt x="0" y="1767813"/>
                    <a:pt x="0" y="1763182"/>
                  </a:cubicBezTo>
                  <a:lnTo>
                    <a:pt x="0" y="17461"/>
                  </a:lnTo>
                  <a:cubicBezTo>
                    <a:pt x="0" y="7818"/>
                    <a:pt x="7818" y="0"/>
                    <a:pt x="174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122153" cy="1818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83254" y="4123438"/>
            <a:ext cx="4336138" cy="2040124"/>
            <a:chOff x="0" y="0"/>
            <a:chExt cx="1593911" cy="749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3912" cy="749925"/>
            </a:xfrm>
            <a:custGeom>
              <a:avLst/>
              <a:gdLst/>
              <a:ahLst/>
              <a:cxnLst/>
              <a:rect r="r" b="b" t="t" l="l"/>
              <a:pathLst>
                <a:path h="749925" w="1593912">
                  <a:moveTo>
                    <a:pt x="62490" y="0"/>
                  </a:moveTo>
                  <a:lnTo>
                    <a:pt x="1531421" y="0"/>
                  </a:lnTo>
                  <a:cubicBezTo>
                    <a:pt x="1547995" y="0"/>
                    <a:pt x="1563889" y="6584"/>
                    <a:pt x="1575608" y="18303"/>
                  </a:cubicBezTo>
                  <a:cubicBezTo>
                    <a:pt x="1587328" y="30022"/>
                    <a:pt x="1593912" y="45917"/>
                    <a:pt x="1593912" y="62490"/>
                  </a:cubicBezTo>
                  <a:lnTo>
                    <a:pt x="1593912" y="687434"/>
                  </a:lnTo>
                  <a:cubicBezTo>
                    <a:pt x="1593912" y="721947"/>
                    <a:pt x="1565934" y="749925"/>
                    <a:pt x="1531421" y="749925"/>
                  </a:cubicBezTo>
                  <a:lnTo>
                    <a:pt x="62490" y="749925"/>
                  </a:lnTo>
                  <a:cubicBezTo>
                    <a:pt x="45917" y="749925"/>
                    <a:pt x="30022" y="743341"/>
                    <a:pt x="18303" y="731622"/>
                  </a:cubicBezTo>
                  <a:cubicBezTo>
                    <a:pt x="6584" y="719902"/>
                    <a:pt x="0" y="704008"/>
                    <a:pt x="0" y="687434"/>
                  </a:cubicBezTo>
                  <a:lnTo>
                    <a:pt x="0" y="62490"/>
                  </a:lnTo>
                  <a:cubicBezTo>
                    <a:pt x="0" y="27978"/>
                    <a:pt x="27978" y="0"/>
                    <a:pt x="62490" y="0"/>
                  </a:cubicBezTo>
                  <a:close/>
                </a:path>
              </a:pathLst>
            </a:custGeom>
            <a:solidFill>
              <a:srgbClr val="FCBD2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3911" cy="78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897957" y="4505922"/>
            <a:ext cx="29807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Cognitive Load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304695" y="4652389"/>
            <a:ext cx="981537" cy="98153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56353" y="4156900"/>
            <a:ext cx="4336138" cy="2038310"/>
            <a:chOff x="0" y="0"/>
            <a:chExt cx="1593911" cy="7492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3912" cy="749258"/>
            </a:xfrm>
            <a:custGeom>
              <a:avLst/>
              <a:gdLst/>
              <a:ahLst/>
              <a:cxnLst/>
              <a:rect r="r" b="b" t="t" l="l"/>
              <a:pathLst>
                <a:path h="749258" w="1593912">
                  <a:moveTo>
                    <a:pt x="62490" y="0"/>
                  </a:moveTo>
                  <a:lnTo>
                    <a:pt x="1531421" y="0"/>
                  </a:lnTo>
                  <a:cubicBezTo>
                    <a:pt x="1547995" y="0"/>
                    <a:pt x="1563889" y="6584"/>
                    <a:pt x="1575608" y="18303"/>
                  </a:cubicBezTo>
                  <a:cubicBezTo>
                    <a:pt x="1587328" y="30022"/>
                    <a:pt x="1593912" y="45917"/>
                    <a:pt x="1593912" y="62490"/>
                  </a:cubicBezTo>
                  <a:lnTo>
                    <a:pt x="1593912" y="686767"/>
                  </a:lnTo>
                  <a:cubicBezTo>
                    <a:pt x="1593912" y="721280"/>
                    <a:pt x="1565934" y="749258"/>
                    <a:pt x="1531421" y="749258"/>
                  </a:cubicBezTo>
                  <a:lnTo>
                    <a:pt x="62490" y="749258"/>
                  </a:lnTo>
                  <a:cubicBezTo>
                    <a:pt x="27978" y="749258"/>
                    <a:pt x="0" y="721280"/>
                    <a:pt x="0" y="686767"/>
                  </a:cubicBezTo>
                  <a:lnTo>
                    <a:pt x="0" y="62490"/>
                  </a:lnTo>
                  <a:cubicBezTo>
                    <a:pt x="0" y="27978"/>
                    <a:pt x="27978" y="0"/>
                    <a:pt x="62490" y="0"/>
                  </a:cubicBezTo>
                  <a:close/>
                </a:path>
              </a:pathLst>
            </a:custGeom>
            <a:solidFill>
              <a:srgbClr val="FA4B7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93911" cy="78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469206" y="4468338"/>
            <a:ext cx="298077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Frictionless Checkout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21962" y="4685287"/>
            <a:ext cx="981537" cy="98153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551297" y="4883055"/>
            <a:ext cx="488334" cy="520890"/>
          </a:xfrm>
          <a:custGeom>
            <a:avLst/>
            <a:gdLst/>
            <a:ahLst/>
            <a:cxnLst/>
            <a:rect r="r" b="b" t="t" l="l"/>
            <a:pathLst>
              <a:path h="520890" w="488334">
                <a:moveTo>
                  <a:pt x="0" y="0"/>
                </a:moveTo>
                <a:lnTo>
                  <a:pt x="488334" y="0"/>
                </a:lnTo>
                <a:lnTo>
                  <a:pt x="488334" y="520890"/>
                </a:lnTo>
                <a:lnTo>
                  <a:pt x="0" y="52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468563" y="4954499"/>
            <a:ext cx="488334" cy="488334"/>
          </a:xfrm>
          <a:custGeom>
            <a:avLst/>
            <a:gdLst/>
            <a:ahLst/>
            <a:cxnLst/>
            <a:rect r="r" b="b" t="t" l="l"/>
            <a:pathLst>
              <a:path h="488334" w="488334">
                <a:moveTo>
                  <a:pt x="0" y="0"/>
                </a:moveTo>
                <a:lnTo>
                  <a:pt x="488335" y="0"/>
                </a:lnTo>
                <a:lnTo>
                  <a:pt x="488335" y="488334"/>
                </a:lnTo>
                <a:lnTo>
                  <a:pt x="0" y="488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97957" y="4887055"/>
            <a:ext cx="240673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Top 3 Value Based Specs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69206" y="4942563"/>
            <a:ext cx="298077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Single-Click Guest Checkout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229856"/>
            <a:ext cx="18224574" cy="18224574"/>
          </a:xfrm>
          <a:custGeom>
            <a:avLst/>
            <a:gdLst/>
            <a:ahLst/>
            <a:cxnLst/>
            <a:rect r="r" b="b" t="t" l="l"/>
            <a:pathLst>
              <a:path h="18224574" w="18224574">
                <a:moveTo>
                  <a:pt x="0" y="0"/>
                </a:moveTo>
                <a:lnTo>
                  <a:pt x="18224574" y="0"/>
                </a:lnTo>
                <a:lnTo>
                  <a:pt x="18224574" y="18224573"/>
                </a:lnTo>
                <a:lnTo>
                  <a:pt x="0" y="18224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6628" y="3884450"/>
            <a:ext cx="5161484" cy="1572506"/>
          </a:xfrm>
          <a:custGeom>
            <a:avLst/>
            <a:gdLst/>
            <a:ahLst/>
            <a:cxnLst/>
            <a:rect r="r" b="b" t="t" l="l"/>
            <a:pathLst>
              <a:path h="1572506" w="5161484">
                <a:moveTo>
                  <a:pt x="0" y="0"/>
                </a:moveTo>
                <a:lnTo>
                  <a:pt x="5161485" y="0"/>
                </a:lnTo>
                <a:lnTo>
                  <a:pt x="5161485" y="1572506"/>
                </a:lnTo>
                <a:lnTo>
                  <a:pt x="0" y="1572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7503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537366" y="2833348"/>
            <a:ext cx="6865329" cy="6424952"/>
            <a:chOff x="0" y="0"/>
            <a:chExt cx="2523611" cy="2361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3611" cy="2361734"/>
            </a:xfrm>
            <a:custGeom>
              <a:avLst/>
              <a:gdLst/>
              <a:ahLst/>
              <a:cxnLst/>
              <a:rect r="r" b="b" t="t" l="l"/>
              <a:pathLst>
                <a:path h="2361734" w="2523611">
                  <a:moveTo>
                    <a:pt x="39469" y="0"/>
                  </a:moveTo>
                  <a:lnTo>
                    <a:pt x="2484143" y="0"/>
                  </a:lnTo>
                  <a:cubicBezTo>
                    <a:pt x="2505941" y="0"/>
                    <a:pt x="2523611" y="17671"/>
                    <a:pt x="2523611" y="39469"/>
                  </a:cubicBezTo>
                  <a:lnTo>
                    <a:pt x="2523611" y="2322265"/>
                  </a:lnTo>
                  <a:cubicBezTo>
                    <a:pt x="2523611" y="2344063"/>
                    <a:pt x="2505941" y="2361734"/>
                    <a:pt x="2484143" y="2361734"/>
                  </a:cubicBezTo>
                  <a:lnTo>
                    <a:pt x="39469" y="2361734"/>
                  </a:lnTo>
                  <a:cubicBezTo>
                    <a:pt x="17671" y="2361734"/>
                    <a:pt x="0" y="2344063"/>
                    <a:pt x="0" y="2322265"/>
                  </a:cubicBezTo>
                  <a:lnTo>
                    <a:pt x="0" y="39469"/>
                  </a:lnTo>
                  <a:cubicBezTo>
                    <a:pt x="0" y="17671"/>
                    <a:pt x="17671" y="0"/>
                    <a:pt x="39469" y="0"/>
                  </a:cubicBezTo>
                  <a:close/>
                </a:path>
              </a:pathLst>
            </a:custGeom>
            <a:solidFill>
              <a:srgbClr val="4C68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23611" cy="2399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43441" y="3568695"/>
            <a:ext cx="1468485" cy="14684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111938" y="5713455"/>
            <a:ext cx="5161484" cy="1572506"/>
          </a:xfrm>
          <a:custGeom>
            <a:avLst/>
            <a:gdLst/>
            <a:ahLst/>
            <a:cxnLst/>
            <a:rect r="r" b="b" t="t" l="l"/>
            <a:pathLst>
              <a:path h="1572506" w="5161484">
                <a:moveTo>
                  <a:pt x="0" y="0"/>
                </a:moveTo>
                <a:lnTo>
                  <a:pt x="5161485" y="0"/>
                </a:lnTo>
                <a:lnTo>
                  <a:pt x="5161485" y="1572506"/>
                </a:lnTo>
                <a:lnTo>
                  <a:pt x="0" y="1572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6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7503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10336270" y="2833348"/>
            <a:ext cx="6648424" cy="6424952"/>
            <a:chOff x="0" y="0"/>
            <a:chExt cx="2443880" cy="23617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3880" cy="2361734"/>
            </a:xfrm>
            <a:custGeom>
              <a:avLst/>
              <a:gdLst/>
              <a:ahLst/>
              <a:cxnLst/>
              <a:rect r="r" b="b" t="t" l="l"/>
              <a:pathLst>
                <a:path h="2361734" w="2443880">
                  <a:moveTo>
                    <a:pt x="40757" y="0"/>
                  </a:moveTo>
                  <a:lnTo>
                    <a:pt x="2403123" y="0"/>
                  </a:lnTo>
                  <a:cubicBezTo>
                    <a:pt x="2413933" y="0"/>
                    <a:pt x="2424299" y="4294"/>
                    <a:pt x="2431942" y="11937"/>
                  </a:cubicBezTo>
                  <a:cubicBezTo>
                    <a:pt x="2439586" y="19581"/>
                    <a:pt x="2443880" y="29947"/>
                    <a:pt x="2443880" y="40757"/>
                  </a:cubicBezTo>
                  <a:lnTo>
                    <a:pt x="2443880" y="2320978"/>
                  </a:lnTo>
                  <a:cubicBezTo>
                    <a:pt x="2443880" y="2343487"/>
                    <a:pt x="2425632" y="2361734"/>
                    <a:pt x="2403123" y="2361734"/>
                  </a:cubicBezTo>
                  <a:lnTo>
                    <a:pt x="40757" y="2361734"/>
                  </a:lnTo>
                  <a:cubicBezTo>
                    <a:pt x="29947" y="2361734"/>
                    <a:pt x="19581" y="2357440"/>
                    <a:pt x="11937" y="2349797"/>
                  </a:cubicBezTo>
                  <a:cubicBezTo>
                    <a:pt x="4294" y="2342154"/>
                    <a:pt x="0" y="2331787"/>
                    <a:pt x="0" y="2320978"/>
                  </a:cubicBezTo>
                  <a:lnTo>
                    <a:pt x="0" y="40757"/>
                  </a:lnTo>
                  <a:cubicBezTo>
                    <a:pt x="0" y="29947"/>
                    <a:pt x="4294" y="19581"/>
                    <a:pt x="11937" y="11937"/>
                  </a:cubicBezTo>
                  <a:cubicBezTo>
                    <a:pt x="19581" y="4294"/>
                    <a:pt x="29947" y="0"/>
                    <a:pt x="40757" y="0"/>
                  </a:cubicBezTo>
                  <a:close/>
                </a:path>
              </a:pathLst>
            </a:custGeom>
            <a:solidFill>
              <a:srgbClr val="8638E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43880" cy="2399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38472" y="3356913"/>
            <a:ext cx="1680267" cy="16802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25400" lIns="25400" bIns="25400" rIns="254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473321" y="3884450"/>
            <a:ext cx="805846" cy="833993"/>
          </a:xfrm>
          <a:custGeom>
            <a:avLst/>
            <a:gdLst/>
            <a:ahLst/>
            <a:cxnLst/>
            <a:rect r="r" b="b" t="t" l="l"/>
            <a:pathLst>
              <a:path h="833993" w="805846">
                <a:moveTo>
                  <a:pt x="0" y="0"/>
                </a:moveTo>
                <a:lnTo>
                  <a:pt x="805846" y="0"/>
                </a:lnTo>
                <a:lnTo>
                  <a:pt x="805846" y="833993"/>
                </a:lnTo>
                <a:lnTo>
                  <a:pt x="0" y="8339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76761" y="3675650"/>
            <a:ext cx="1003688" cy="1042793"/>
          </a:xfrm>
          <a:custGeom>
            <a:avLst/>
            <a:gdLst/>
            <a:ahLst/>
            <a:cxnLst/>
            <a:rect r="r" b="b" t="t" l="l"/>
            <a:pathLst>
              <a:path h="1042793" w="1003688">
                <a:moveTo>
                  <a:pt x="0" y="0"/>
                </a:moveTo>
                <a:lnTo>
                  <a:pt x="1003688" y="0"/>
                </a:lnTo>
                <a:lnTo>
                  <a:pt x="1003688" y="1042793"/>
                </a:lnTo>
                <a:lnTo>
                  <a:pt x="0" y="10427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700000">
            <a:off x="-2124105" y="8314785"/>
            <a:ext cx="3600450" cy="4114800"/>
          </a:xfrm>
          <a:custGeom>
            <a:avLst/>
            <a:gdLst/>
            <a:ahLst/>
            <a:cxnLst/>
            <a:rect r="r" b="b" t="t" l="l"/>
            <a:pathLst>
              <a:path h="4114800" w="3600450">
                <a:moveTo>
                  <a:pt x="0" y="0"/>
                </a:moveTo>
                <a:lnTo>
                  <a:pt x="3600450" y="0"/>
                </a:lnTo>
                <a:lnTo>
                  <a:pt x="3600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028700"/>
            <a:ext cx="1051281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1 Copy Test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88790" y="5274993"/>
            <a:ext cx="4177789" cy="341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6"/>
              </a:lnSpc>
            </a:pPr>
            <a:r>
              <a:rPr lang="en-US" sz="244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Problem: </a:t>
            </a:r>
            <a:r>
              <a:rPr lang="en-US" sz="244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High-AOV products (like your $910.67 baseline) trigger "Buyer’s Remorse" or fear of making a wrong choice. A generic headline like "Explore the History of Humankind" does nothing to lower that fear.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65769" y="5274993"/>
            <a:ext cx="4177789" cy="341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6"/>
              </a:lnSpc>
            </a:pPr>
            <a:r>
              <a:rPr lang="en-US" sz="244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Hypothesis: </a:t>
            </a:r>
            <a:r>
              <a:rPr lang="en-US" sz="244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By replacing a generic product description with a headline driven by Authority Bias and Social Proof, we will reduce the "Trust Gap" and increase the Click-Through Rate (CTR) to the checkout</a:t>
            </a:r>
            <a:r>
              <a:rPr lang="en-US" sz="244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11148"/>
            <a:ext cx="16230600" cy="6347152"/>
            <a:chOff x="0" y="0"/>
            <a:chExt cx="5357284" cy="20950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57284" cy="2095024"/>
            </a:xfrm>
            <a:custGeom>
              <a:avLst/>
              <a:gdLst/>
              <a:ahLst/>
              <a:cxnLst/>
              <a:rect r="r" b="b" t="t" l="l"/>
              <a:pathLst>
                <a:path h="2095024" w="5357284">
                  <a:moveTo>
                    <a:pt x="16695" y="0"/>
                  </a:moveTo>
                  <a:lnTo>
                    <a:pt x="5340589" y="0"/>
                  </a:lnTo>
                  <a:cubicBezTo>
                    <a:pt x="5349810" y="0"/>
                    <a:pt x="5357284" y="7475"/>
                    <a:pt x="5357284" y="16695"/>
                  </a:cubicBezTo>
                  <a:lnTo>
                    <a:pt x="5357284" y="2078329"/>
                  </a:lnTo>
                  <a:cubicBezTo>
                    <a:pt x="5357284" y="2082757"/>
                    <a:pt x="5355525" y="2087003"/>
                    <a:pt x="5352394" y="2090134"/>
                  </a:cubicBezTo>
                  <a:cubicBezTo>
                    <a:pt x="5349263" y="2093265"/>
                    <a:pt x="5345017" y="2095024"/>
                    <a:pt x="5340589" y="2095024"/>
                  </a:cubicBezTo>
                  <a:lnTo>
                    <a:pt x="16695" y="2095024"/>
                  </a:lnTo>
                  <a:cubicBezTo>
                    <a:pt x="7475" y="2095024"/>
                    <a:pt x="0" y="2087549"/>
                    <a:pt x="0" y="2078329"/>
                  </a:cubicBezTo>
                  <a:lnTo>
                    <a:pt x="0" y="16695"/>
                  </a:lnTo>
                  <a:cubicBezTo>
                    <a:pt x="0" y="12267"/>
                    <a:pt x="1759" y="8021"/>
                    <a:pt x="4890" y="4890"/>
                  </a:cubicBezTo>
                  <a:cubicBezTo>
                    <a:pt x="8021" y="1759"/>
                    <a:pt x="12267" y="0"/>
                    <a:pt x="1669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357284" cy="2133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27960" y="3964608"/>
            <a:ext cx="4931667" cy="4819178"/>
            <a:chOff x="0" y="0"/>
            <a:chExt cx="1627810" cy="1590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7810" cy="1590681"/>
            </a:xfrm>
            <a:custGeom>
              <a:avLst/>
              <a:gdLst/>
              <a:ahLst/>
              <a:cxnLst/>
              <a:rect r="r" b="b" t="t" l="l"/>
              <a:pathLst>
                <a:path h="1590681" w="1627810">
                  <a:moveTo>
                    <a:pt x="54944" y="0"/>
                  </a:moveTo>
                  <a:lnTo>
                    <a:pt x="1572866" y="0"/>
                  </a:lnTo>
                  <a:cubicBezTo>
                    <a:pt x="1587438" y="0"/>
                    <a:pt x="1601413" y="5789"/>
                    <a:pt x="1611718" y="16093"/>
                  </a:cubicBezTo>
                  <a:cubicBezTo>
                    <a:pt x="1622022" y="26397"/>
                    <a:pt x="1627810" y="40372"/>
                    <a:pt x="1627810" y="54944"/>
                  </a:cubicBezTo>
                  <a:lnTo>
                    <a:pt x="1627810" y="1535736"/>
                  </a:lnTo>
                  <a:cubicBezTo>
                    <a:pt x="1627810" y="1550308"/>
                    <a:pt x="1622022" y="1564284"/>
                    <a:pt x="1611718" y="1574588"/>
                  </a:cubicBezTo>
                  <a:cubicBezTo>
                    <a:pt x="1601413" y="1584892"/>
                    <a:pt x="1587438" y="1590681"/>
                    <a:pt x="1572866" y="1590681"/>
                  </a:cubicBezTo>
                  <a:lnTo>
                    <a:pt x="54944" y="1590681"/>
                  </a:lnTo>
                  <a:cubicBezTo>
                    <a:pt x="40372" y="1590681"/>
                    <a:pt x="26397" y="1584892"/>
                    <a:pt x="16093" y="1574588"/>
                  </a:cubicBezTo>
                  <a:cubicBezTo>
                    <a:pt x="5789" y="1564284"/>
                    <a:pt x="0" y="1550308"/>
                    <a:pt x="0" y="1535736"/>
                  </a:cubicBezTo>
                  <a:lnTo>
                    <a:pt x="0" y="54944"/>
                  </a:lnTo>
                  <a:cubicBezTo>
                    <a:pt x="0" y="40372"/>
                    <a:pt x="5789" y="26397"/>
                    <a:pt x="16093" y="16093"/>
                  </a:cubicBezTo>
                  <a:cubicBezTo>
                    <a:pt x="26397" y="5789"/>
                    <a:pt x="40372" y="0"/>
                    <a:pt x="549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27810" cy="1628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70500" y="3882896"/>
            <a:ext cx="5574007" cy="5574007"/>
          </a:xfrm>
          <a:custGeom>
            <a:avLst/>
            <a:gdLst/>
            <a:ahLst/>
            <a:cxnLst/>
            <a:rect r="r" b="b" t="t" l="l"/>
            <a:pathLst>
              <a:path h="5574007" w="5574007">
                <a:moveTo>
                  <a:pt x="0" y="0"/>
                </a:moveTo>
                <a:lnTo>
                  <a:pt x="5574007" y="0"/>
                </a:lnTo>
                <a:lnTo>
                  <a:pt x="5574007" y="5574007"/>
                </a:lnTo>
                <a:lnTo>
                  <a:pt x="0" y="5574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406526" y="3964608"/>
            <a:ext cx="4945210" cy="4819178"/>
            <a:chOff x="0" y="0"/>
            <a:chExt cx="1632280" cy="15906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32280" cy="1590681"/>
            </a:xfrm>
            <a:custGeom>
              <a:avLst/>
              <a:gdLst/>
              <a:ahLst/>
              <a:cxnLst/>
              <a:rect r="r" b="b" t="t" l="l"/>
              <a:pathLst>
                <a:path h="1590681" w="1632280">
                  <a:moveTo>
                    <a:pt x="54794" y="0"/>
                  </a:moveTo>
                  <a:lnTo>
                    <a:pt x="1577487" y="0"/>
                  </a:lnTo>
                  <a:cubicBezTo>
                    <a:pt x="1592019" y="0"/>
                    <a:pt x="1605956" y="5773"/>
                    <a:pt x="1616232" y="16049"/>
                  </a:cubicBezTo>
                  <a:cubicBezTo>
                    <a:pt x="1626508" y="26325"/>
                    <a:pt x="1632280" y="40262"/>
                    <a:pt x="1632280" y="54794"/>
                  </a:cubicBezTo>
                  <a:lnTo>
                    <a:pt x="1632280" y="1535887"/>
                  </a:lnTo>
                  <a:cubicBezTo>
                    <a:pt x="1632280" y="1550419"/>
                    <a:pt x="1626508" y="1564356"/>
                    <a:pt x="1616232" y="1574632"/>
                  </a:cubicBezTo>
                  <a:cubicBezTo>
                    <a:pt x="1605956" y="1584908"/>
                    <a:pt x="1592019" y="1590681"/>
                    <a:pt x="1577487" y="1590681"/>
                  </a:cubicBezTo>
                  <a:lnTo>
                    <a:pt x="54794" y="1590681"/>
                  </a:lnTo>
                  <a:cubicBezTo>
                    <a:pt x="40262" y="1590681"/>
                    <a:pt x="26325" y="1584908"/>
                    <a:pt x="16049" y="1574632"/>
                  </a:cubicBezTo>
                  <a:cubicBezTo>
                    <a:pt x="5773" y="1564356"/>
                    <a:pt x="0" y="1550419"/>
                    <a:pt x="0" y="1535887"/>
                  </a:cubicBezTo>
                  <a:lnTo>
                    <a:pt x="0" y="54794"/>
                  </a:lnTo>
                  <a:cubicBezTo>
                    <a:pt x="0" y="40262"/>
                    <a:pt x="5773" y="26325"/>
                    <a:pt x="16049" y="16049"/>
                  </a:cubicBezTo>
                  <a:cubicBezTo>
                    <a:pt x="26325" y="5773"/>
                    <a:pt x="40262" y="0"/>
                    <a:pt x="54794" y="0"/>
                  </a:cubicBezTo>
                  <a:close/>
                </a:path>
              </a:pathLst>
            </a:custGeom>
            <a:solidFill>
              <a:srgbClr val="8638E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32280" cy="1628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712768" y="5218108"/>
            <a:ext cx="2364763" cy="1379445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12768" y="6970746"/>
            <a:ext cx="2364763" cy="1379445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926507" y="5218108"/>
            <a:ext cx="2364763" cy="1379445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26507" y="6970746"/>
            <a:ext cx="2364763" cy="1379445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1835852" y="3964608"/>
            <a:ext cx="4948521" cy="4819178"/>
            <a:chOff x="0" y="0"/>
            <a:chExt cx="1633373" cy="15906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3373" cy="1590681"/>
            </a:xfrm>
            <a:custGeom>
              <a:avLst/>
              <a:gdLst/>
              <a:ahLst/>
              <a:cxnLst/>
              <a:rect r="r" b="b" t="t" l="l"/>
              <a:pathLst>
                <a:path h="1590681" w="1633373">
                  <a:moveTo>
                    <a:pt x="54757" y="0"/>
                  </a:moveTo>
                  <a:lnTo>
                    <a:pt x="1578616" y="0"/>
                  </a:lnTo>
                  <a:cubicBezTo>
                    <a:pt x="1593139" y="0"/>
                    <a:pt x="1607066" y="5769"/>
                    <a:pt x="1617335" y="16038"/>
                  </a:cubicBezTo>
                  <a:cubicBezTo>
                    <a:pt x="1627604" y="26307"/>
                    <a:pt x="1633373" y="40235"/>
                    <a:pt x="1633373" y="54757"/>
                  </a:cubicBezTo>
                  <a:lnTo>
                    <a:pt x="1633373" y="1535923"/>
                  </a:lnTo>
                  <a:cubicBezTo>
                    <a:pt x="1633373" y="1550446"/>
                    <a:pt x="1627604" y="1564374"/>
                    <a:pt x="1617335" y="1574643"/>
                  </a:cubicBezTo>
                  <a:cubicBezTo>
                    <a:pt x="1607066" y="1584912"/>
                    <a:pt x="1593139" y="1590681"/>
                    <a:pt x="1578616" y="1590681"/>
                  </a:cubicBezTo>
                  <a:lnTo>
                    <a:pt x="54757" y="1590681"/>
                  </a:lnTo>
                  <a:cubicBezTo>
                    <a:pt x="40235" y="1590681"/>
                    <a:pt x="26307" y="1584912"/>
                    <a:pt x="16038" y="1574643"/>
                  </a:cubicBezTo>
                  <a:cubicBezTo>
                    <a:pt x="5769" y="1564374"/>
                    <a:pt x="0" y="1550446"/>
                    <a:pt x="0" y="1535923"/>
                  </a:cubicBezTo>
                  <a:lnTo>
                    <a:pt x="0" y="54757"/>
                  </a:lnTo>
                  <a:cubicBezTo>
                    <a:pt x="0" y="40235"/>
                    <a:pt x="5769" y="26307"/>
                    <a:pt x="16038" y="16038"/>
                  </a:cubicBezTo>
                  <a:cubicBezTo>
                    <a:pt x="26307" y="5769"/>
                    <a:pt x="40235" y="0"/>
                    <a:pt x="547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33373" cy="1628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39098" y="5356803"/>
            <a:ext cx="2046448" cy="121288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39098" y="7109440"/>
            <a:ext cx="2046448" cy="1212880"/>
          </a:xfrm>
          <a:prstGeom prst="rect">
            <a:avLst/>
          </a:prstGeom>
        </p:spPr>
      </p:pic>
      <p:sp>
        <p:nvSpPr>
          <p:cNvPr name="Freeform 22" id="22"/>
          <p:cNvSpPr/>
          <p:nvPr/>
        </p:nvSpPr>
        <p:spPr>
          <a:xfrm flipH="false" flipV="false" rot="0">
            <a:off x="-1229078" y="9456903"/>
            <a:ext cx="4515556" cy="4114800"/>
          </a:xfrm>
          <a:custGeom>
            <a:avLst/>
            <a:gdLst/>
            <a:ahLst/>
            <a:cxnLst/>
            <a:rect r="r" b="b" t="t" l="l"/>
            <a:pathLst>
              <a:path h="4114800" w="4515556">
                <a:moveTo>
                  <a:pt x="0" y="0"/>
                </a:moveTo>
                <a:lnTo>
                  <a:pt x="4515556" y="0"/>
                </a:lnTo>
                <a:lnTo>
                  <a:pt x="45155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847496">
            <a:off x="17735325" y="9548917"/>
            <a:ext cx="2245516" cy="1496075"/>
          </a:xfrm>
          <a:custGeom>
            <a:avLst/>
            <a:gdLst/>
            <a:ahLst/>
            <a:cxnLst/>
            <a:rect r="r" b="b" t="t" l="l"/>
            <a:pathLst>
              <a:path h="1496075" w="2245516">
                <a:moveTo>
                  <a:pt x="0" y="0"/>
                </a:moveTo>
                <a:lnTo>
                  <a:pt x="2245516" y="0"/>
                </a:lnTo>
                <a:lnTo>
                  <a:pt x="2245516" y="1496074"/>
                </a:lnTo>
                <a:lnTo>
                  <a:pt x="0" y="14960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24257" y="581198"/>
            <a:ext cx="4418907" cy="1695755"/>
          </a:xfrm>
          <a:custGeom>
            <a:avLst/>
            <a:gdLst/>
            <a:ahLst/>
            <a:cxnLst/>
            <a:rect r="r" b="b" t="t" l="l"/>
            <a:pathLst>
              <a:path h="1695755" w="4418907">
                <a:moveTo>
                  <a:pt x="0" y="0"/>
                </a:moveTo>
                <a:lnTo>
                  <a:pt x="4418907" y="0"/>
                </a:lnTo>
                <a:lnTo>
                  <a:pt x="4418907" y="1695755"/>
                </a:lnTo>
                <a:lnTo>
                  <a:pt x="0" y="16957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5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028700"/>
            <a:ext cx="1181065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322C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Growth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Exp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eri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ment</a:t>
            </a:r>
            <a:r>
              <a:rPr lang="en-US" sz="6000">
                <a:solidFill>
                  <a:srgbClr val="322C2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38341" y="4251704"/>
            <a:ext cx="33195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Opportunity Gap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38341" y="5580569"/>
            <a:ext cx="19165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442,626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38341" y="5061360"/>
            <a:ext cx="91851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Gap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38341" y="7731354"/>
            <a:ext cx="19165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2.1% CVR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38341" y="7212146"/>
            <a:ext cx="1659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Current Q3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52079" y="4251704"/>
            <a:ext cx="33195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60-Day Recovery Milestone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52079" y="5580569"/>
            <a:ext cx="19165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10%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52079" y="5061360"/>
            <a:ext cx="91851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4E7D"/>
                </a:solidFill>
                <a:latin typeface="DM Sans"/>
                <a:ea typeface="DM Sans"/>
                <a:cs typeface="DM Sans"/>
                <a:sym typeface="DM Sans"/>
              </a:rPr>
              <a:t>Target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25773" y="7603319"/>
            <a:ext cx="191653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10% Recovery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52079" y="7212146"/>
            <a:ext cx="1659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4E7D"/>
                </a:solidFill>
                <a:latin typeface="DM Sans"/>
                <a:ea typeface="DM Sans"/>
                <a:cs typeface="DM Sans"/>
                <a:sym typeface="DM Sans"/>
              </a:rPr>
              <a:t>Forecast Q4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91831" y="6093785"/>
            <a:ext cx="172154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22C23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of total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64477" y="4251704"/>
            <a:ext cx="331956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Community investments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64477" y="5580569"/>
            <a:ext cx="19165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$500K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64477" y="5061360"/>
            <a:ext cx="91851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4E7D"/>
                </a:solidFill>
                <a:latin typeface="DM Sans"/>
                <a:ea typeface="DM Sans"/>
                <a:cs typeface="DM Sans"/>
                <a:sym typeface="DM Sans"/>
              </a:rPr>
              <a:t>Target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64477" y="7731354"/>
            <a:ext cx="19165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22C23"/>
                </a:solidFill>
                <a:latin typeface="DM Sans Bold"/>
                <a:ea typeface="DM Sans Bold"/>
                <a:cs typeface="DM Sans Bold"/>
                <a:sym typeface="DM Sans Bold"/>
              </a:rPr>
              <a:t>$410K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64477" y="7212146"/>
            <a:ext cx="134612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4E7D"/>
                </a:solidFill>
                <a:latin typeface="DM Sans"/>
                <a:ea typeface="DM Sans"/>
                <a:cs typeface="DM Sans"/>
                <a:sym typeface="DM Sans"/>
              </a:rPr>
              <a:t>YTD Status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04229" y="6093785"/>
            <a:ext cx="172154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22C23">
                    <a:alpha val="6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annual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821680" y="2969621"/>
            <a:ext cx="15586438" cy="1558643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C68DF">
                    <a:alpha val="100000"/>
                  </a:srgbClr>
                </a:gs>
                <a:gs pos="100000">
                  <a:srgbClr val="68A0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635231" y="-69170"/>
            <a:ext cx="3569799" cy="3038791"/>
          </a:xfrm>
          <a:custGeom>
            <a:avLst/>
            <a:gdLst/>
            <a:ahLst/>
            <a:cxnLst/>
            <a:rect r="r" b="b" t="t" l="l"/>
            <a:pathLst>
              <a:path h="3038791" w="3569799">
                <a:moveTo>
                  <a:pt x="0" y="0"/>
                </a:moveTo>
                <a:lnTo>
                  <a:pt x="3569799" y="0"/>
                </a:lnTo>
                <a:lnTo>
                  <a:pt x="3569799" y="3038791"/>
                </a:lnTo>
                <a:lnTo>
                  <a:pt x="0" y="303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27098">
            <a:off x="8850417" y="-5458375"/>
            <a:ext cx="15835434" cy="15835434"/>
          </a:xfrm>
          <a:custGeom>
            <a:avLst/>
            <a:gdLst/>
            <a:ahLst/>
            <a:cxnLst/>
            <a:rect r="r" b="b" t="t" l="l"/>
            <a:pathLst>
              <a:path h="15835434" w="15835434">
                <a:moveTo>
                  <a:pt x="0" y="0"/>
                </a:moveTo>
                <a:lnTo>
                  <a:pt x="15835434" y="0"/>
                </a:lnTo>
                <a:lnTo>
                  <a:pt x="15835434" y="15835434"/>
                </a:lnTo>
                <a:lnTo>
                  <a:pt x="0" y="1583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59771" y="3030197"/>
            <a:ext cx="5525297" cy="3836080"/>
            <a:chOff x="0" y="0"/>
            <a:chExt cx="7367062" cy="51147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425567" y="219075"/>
              <a:ext cx="6515929" cy="4112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54"/>
                </a:lnSpc>
              </a:pPr>
              <a:r>
                <a:rPr lang="en-US" sz="11654">
                  <a:solidFill>
                    <a:srgbClr val="322C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Thank </a:t>
              </a:r>
              <a:r>
                <a:rPr lang="en-US" sz="11654" b="true">
                  <a:solidFill>
                    <a:srgbClr val="322C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620955"/>
              <a:ext cx="7367062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DAHCbtDStug</dc:identifier>
  <dcterms:modified xsi:type="dcterms:W3CDTF">2011-08-01T06:04:30Z</dcterms:modified>
  <cp:revision>1</cp:revision>
  <dc:title>Blue Modern KPI Report Presentation</dc:title>
</cp:coreProperties>
</file>